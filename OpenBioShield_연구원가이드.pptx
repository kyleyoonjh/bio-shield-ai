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</a:rPr>
              <a:t>OpenBioShield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331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6EE7B7"/>
                </a:solidFill>
              </a:rPr>
              <a:t>시약 연구원을 위한 기능 사용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063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각 단계별 실무 활용법 · 주요 수치 해석 · 실험 전 체크포인트</a:t>
            </a:r>
          </a:p>
        </p:txBody>
      </p:sp>
      <p:sp>
        <p:nvSpPr>
          <p:cNvPr id="7" name="Smiley Face 6"/>
          <p:cNvSpPr/>
          <p:nvPr/>
        </p:nvSpPr>
        <p:spPr>
          <a:xfrm>
            <a:off x="8686800" y="1371600"/>
            <a:ext cx="2926080" cy="100584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1417320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1554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E7B7"/>
                </a:solidFill>
              </a:rPr>
              <a:t>서열 입력</a:t>
            </a:r>
          </a:p>
        </p:txBody>
      </p:sp>
      <p:sp>
        <p:nvSpPr>
          <p:cNvPr id="10" name="Smiley Face 9"/>
          <p:cNvSpPr/>
          <p:nvPr/>
        </p:nvSpPr>
        <p:spPr>
          <a:xfrm>
            <a:off x="8686800" y="2560320"/>
            <a:ext cx="2926080" cy="100584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2606040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2743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E7B7"/>
                </a:solidFill>
              </a:rPr>
              <a:t>자동 설계</a:t>
            </a:r>
          </a:p>
        </p:txBody>
      </p:sp>
      <p:sp>
        <p:nvSpPr>
          <p:cNvPr id="13" name="Smiley Face 12"/>
          <p:cNvSpPr/>
          <p:nvPr/>
        </p:nvSpPr>
        <p:spPr>
          <a:xfrm>
            <a:off x="8686800" y="3749039"/>
            <a:ext cx="2926080" cy="100584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3794760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39319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E7B7"/>
                </a:solidFill>
              </a:rPr>
              <a:t>결과 분석</a:t>
            </a:r>
          </a:p>
        </p:txBody>
      </p:sp>
      <p:sp>
        <p:nvSpPr>
          <p:cNvPr id="16" name="Smiley Face 15"/>
          <p:cNvSpPr/>
          <p:nvPr/>
        </p:nvSpPr>
        <p:spPr>
          <a:xfrm>
            <a:off x="8686800" y="4937760"/>
            <a:ext cx="2926080" cy="100584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4983480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51206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E7B7"/>
                </a:solidFill>
              </a:rPr>
              <a:t>보고서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38404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총 9단계 자동화 파이프라인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28016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전체 워크플로우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389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FASTA 업로드부터 보고서까지 — 한눈에 보기</a:t>
            </a:r>
          </a:p>
        </p:txBody>
      </p:sp>
      <p:sp>
        <p:nvSpPr>
          <p:cNvPr id="6" name="Smiley Face 5"/>
          <p:cNvSpPr/>
          <p:nvPr/>
        </p:nvSpPr>
        <p:spPr>
          <a:xfrm>
            <a:off x="274320" y="1280160"/>
            <a:ext cx="1170432" cy="201168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117043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37160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389888"/>
            <a:ext cx="329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18288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FASTA
업로드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" y="246888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서열 파일
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192024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3" name="Smiley Face 12"/>
          <p:cNvSpPr/>
          <p:nvPr/>
        </p:nvSpPr>
        <p:spPr>
          <a:xfrm>
            <a:off x="1591056" y="1280160"/>
            <a:ext cx="1170432" cy="201168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91056" y="1280160"/>
            <a:ext cx="1170432" cy="6400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02536" y="1371600"/>
            <a:ext cx="347472" cy="34747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1389888"/>
            <a:ext cx="329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18288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MSA
정렬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7632" y="246888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MAFFT
자동 정렬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192024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0" name="Smiley Face 19"/>
          <p:cNvSpPr/>
          <p:nvPr/>
        </p:nvSpPr>
        <p:spPr>
          <a:xfrm>
            <a:off x="2907791" y="1280160"/>
            <a:ext cx="1170432" cy="201168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07791" y="1280160"/>
            <a:ext cx="1170432" cy="6400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19272" y="1371600"/>
            <a:ext cx="347472" cy="34747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28415" y="1389888"/>
            <a:ext cx="329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44368" y="18288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보존 영역
탐색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44368" y="246888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Shannon
Entropy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78224" y="192024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7" name="Smiley Face 26"/>
          <p:cNvSpPr/>
          <p:nvPr/>
        </p:nvSpPr>
        <p:spPr>
          <a:xfrm>
            <a:off x="4224528" y="1280160"/>
            <a:ext cx="1170432" cy="201168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24528" y="1280160"/>
            <a:ext cx="1170432" cy="64008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36008" y="1371600"/>
            <a:ext cx="347472" cy="347472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5152" y="1389888"/>
            <a:ext cx="329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61104" y="18288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후보
생성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61104" y="246888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Primer3
자동 설계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192024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34" name="Smiley Face 33"/>
          <p:cNvSpPr/>
          <p:nvPr/>
        </p:nvSpPr>
        <p:spPr>
          <a:xfrm>
            <a:off x="5541264" y="1280160"/>
            <a:ext cx="1170432" cy="201168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41264" y="1280160"/>
            <a:ext cx="1170432" cy="6400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952744" y="1371600"/>
            <a:ext cx="347472" cy="347472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61888" y="1389888"/>
            <a:ext cx="329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18288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특이성
검증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246888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Off-target
필터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11696" y="192024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41" name="Smiley Face 40"/>
          <p:cNvSpPr/>
          <p:nvPr/>
        </p:nvSpPr>
        <p:spPr>
          <a:xfrm>
            <a:off x="6857999" y="1280160"/>
            <a:ext cx="1170432" cy="201168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857999" y="1280160"/>
            <a:ext cx="1170432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269479" y="1371600"/>
            <a:ext cx="347472" cy="34747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78623" y="1389888"/>
            <a:ext cx="329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94575" y="18288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커버리지
분석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94575" y="246888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변이 대응
계산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28431" y="192024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48" name="Smiley Face 47"/>
          <p:cNvSpPr/>
          <p:nvPr/>
        </p:nvSpPr>
        <p:spPr>
          <a:xfrm>
            <a:off x="8174736" y="1280160"/>
            <a:ext cx="1170432" cy="201168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74736" y="1280160"/>
            <a:ext cx="1170432" cy="64008"/>
          </a:xfrm>
          <a:prstGeom prst="rect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586216" y="1371600"/>
            <a:ext cx="347472" cy="347472"/>
          </a:xfrm>
          <a:prstGeom prst="ellipse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1389888"/>
            <a:ext cx="329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11312" y="18288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열역학
분석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11312" y="246888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Tm·GC·
이합체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45168" y="192024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55" name="Smiley Face 54"/>
          <p:cNvSpPr/>
          <p:nvPr/>
        </p:nvSpPr>
        <p:spPr>
          <a:xfrm>
            <a:off x="9491472" y="1280160"/>
            <a:ext cx="1170432" cy="201168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491472" y="1280160"/>
            <a:ext cx="117043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902952" y="137160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912096" y="1389888"/>
            <a:ext cx="329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28048" y="18288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AI 점수
예측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28048" y="246888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효율
예측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61904" y="192024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62" name="Smiley Face 61"/>
          <p:cNvSpPr/>
          <p:nvPr/>
        </p:nvSpPr>
        <p:spPr>
          <a:xfrm>
            <a:off x="10808208" y="1280160"/>
            <a:ext cx="1170432" cy="201168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808208" y="1280160"/>
            <a:ext cx="1170432" cy="64008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1219688" y="1371600"/>
            <a:ext cx="347472" cy="347472"/>
          </a:xfrm>
          <a:prstGeom prst="ellipse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228832" y="1389888"/>
            <a:ext cx="329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44784" y="18288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보고서
생성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844784" y="246888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HTML·PDF
저장</a:t>
            </a:r>
          </a:p>
        </p:txBody>
      </p:sp>
      <p:sp>
        <p:nvSpPr>
          <p:cNvPr id="68" name="Smiley Face 67"/>
          <p:cNvSpPr/>
          <p:nvPr/>
        </p:nvSpPr>
        <p:spPr>
          <a:xfrm>
            <a:off x="274320" y="3520440"/>
            <a:ext cx="11612880" cy="274320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3630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🔬  시약 연구원이 집중해야 할 단계</a:t>
            </a:r>
          </a:p>
        </p:txBody>
      </p:sp>
      <p:sp>
        <p:nvSpPr>
          <p:cNvPr id="70" name="Oval 69"/>
          <p:cNvSpPr/>
          <p:nvPr/>
        </p:nvSpPr>
        <p:spPr>
          <a:xfrm>
            <a:off x="502920" y="420624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12064" y="4215383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0120" y="42062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FASTA 파일 품질 확인 — 서열 수가 많을수록 커버리지 정확도 향상</a:t>
            </a:r>
          </a:p>
        </p:txBody>
      </p:sp>
      <p:sp>
        <p:nvSpPr>
          <p:cNvPr id="73" name="Oval 72"/>
          <p:cNvSpPr/>
          <p:nvPr/>
        </p:nvSpPr>
        <p:spPr>
          <a:xfrm>
            <a:off x="502920" y="4709159"/>
            <a:ext cx="347472" cy="34747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12064" y="4718303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0120" y="4709159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커버리지 점수 확인 — 80% 이상인 후보만 실험 대상으로 선정 권장</a:t>
            </a:r>
          </a:p>
        </p:txBody>
      </p:sp>
      <p:sp>
        <p:nvSpPr>
          <p:cNvPr id="76" name="Oval 75"/>
          <p:cNvSpPr/>
          <p:nvPr/>
        </p:nvSpPr>
        <p:spPr>
          <a:xfrm>
            <a:off x="502920" y="5212079"/>
            <a:ext cx="347472" cy="347472"/>
          </a:xfrm>
          <a:prstGeom prst="ellipse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12064" y="5221223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0120" y="5212079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Tm 균형 확인 — 포워드/리버스 Tm 차이 ±2°C 이내 후보 우선 선택</a:t>
            </a:r>
          </a:p>
        </p:txBody>
      </p:sp>
      <p:sp>
        <p:nvSpPr>
          <p:cNvPr id="79" name="Oval 78"/>
          <p:cNvSpPr/>
          <p:nvPr/>
        </p:nvSpPr>
        <p:spPr>
          <a:xfrm>
            <a:off x="502920" y="571500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12064" y="572414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0120" y="5715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AI 점수 근거 확인 — 낮은 점수 원인을 파악해 설계 파라미터 조정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28016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Step 1  |  FASTA 업로드 &amp; 파라미터 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389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좋은 입력이 좋은 결과를 만든다</a:t>
            </a:r>
          </a:p>
        </p:txBody>
      </p:sp>
      <p:sp>
        <p:nvSpPr>
          <p:cNvPr id="6" name="Smiley Face 5"/>
          <p:cNvSpPr/>
          <p:nvPr/>
        </p:nvSpPr>
        <p:spPr>
          <a:xfrm>
            <a:off x="274320" y="1188720"/>
            <a:ext cx="5303520" cy="411480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B7"/>
                </a:solidFill>
              </a:rPr>
              <a:t>📁  FASTA 파일 요건</a:t>
            </a:r>
          </a:p>
        </p:txBody>
      </p:sp>
      <p:sp>
        <p:nvSpPr>
          <p:cNvPr id="8" name="Smiley Face 7"/>
          <p:cNvSpPr/>
          <p:nvPr/>
        </p:nvSpPr>
        <p:spPr>
          <a:xfrm>
            <a:off x="411480" y="1783080"/>
            <a:ext cx="5029200" cy="566928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47088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EE7B7"/>
                </a:solidFill>
              </a:rPr>
              <a:t>권장 서열 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847088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20개 이상 — 커버리지 통계 신뢰도 확보</a:t>
            </a:r>
          </a:p>
        </p:txBody>
      </p:sp>
      <p:sp>
        <p:nvSpPr>
          <p:cNvPr id="12" name="Smiley Face 11"/>
          <p:cNvSpPr/>
          <p:nvPr/>
        </p:nvSpPr>
        <p:spPr>
          <a:xfrm>
            <a:off x="411480" y="2404872"/>
            <a:ext cx="5029200" cy="566928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450592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468880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EE7B7"/>
                </a:solidFill>
              </a:rPr>
              <a:t>서열 길이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468880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분석 타겟 유전자 전체 포함 (트리밍 불필요)</a:t>
            </a:r>
          </a:p>
        </p:txBody>
      </p:sp>
      <p:sp>
        <p:nvSpPr>
          <p:cNvPr id="16" name="Smiley Face 15"/>
          <p:cNvSpPr/>
          <p:nvPr/>
        </p:nvSpPr>
        <p:spPr>
          <a:xfrm>
            <a:off x="411480" y="3026664"/>
            <a:ext cx="5029200" cy="566928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072384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090672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EE7B7"/>
                </a:solidFill>
              </a:rPr>
              <a:t>헤더 형식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090672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&gt;샘플명 또는 &gt;accession_번호</a:t>
            </a:r>
          </a:p>
        </p:txBody>
      </p:sp>
      <p:sp>
        <p:nvSpPr>
          <p:cNvPr id="20" name="Smiley Face 19"/>
          <p:cNvSpPr/>
          <p:nvPr/>
        </p:nvSpPr>
        <p:spPr>
          <a:xfrm>
            <a:off x="411480" y="3648456"/>
            <a:ext cx="5029200" cy="566928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694176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712464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EE7B7"/>
                </a:solidFill>
              </a:rPr>
              <a:t>주의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712464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중복 서열 포함 시 커버리지 과대 계산됨</a:t>
            </a:r>
          </a:p>
        </p:txBody>
      </p:sp>
      <p:sp>
        <p:nvSpPr>
          <p:cNvPr id="24" name="Smiley Face 23"/>
          <p:cNvSpPr/>
          <p:nvPr/>
        </p:nvSpPr>
        <p:spPr>
          <a:xfrm>
            <a:off x="411480" y="4270248"/>
            <a:ext cx="5029200" cy="566928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315968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334256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EE7B7"/>
                </a:solidFill>
              </a:rPr>
              <a:t>주의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4334256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갭(-) 문자 자동 제거 처리됨</a:t>
            </a:r>
          </a:p>
        </p:txBody>
      </p:sp>
      <p:sp>
        <p:nvSpPr>
          <p:cNvPr id="28" name="Smiley Face 27"/>
          <p:cNvSpPr/>
          <p:nvPr/>
        </p:nvSpPr>
        <p:spPr>
          <a:xfrm>
            <a:off x="5806440" y="1188720"/>
            <a:ext cx="6080760" cy="411480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89320" y="129844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B7"/>
                </a:solidFill>
              </a:rPr>
              <a:t>🔬  어세이 타입 선택 가이드</a:t>
            </a:r>
          </a:p>
        </p:txBody>
      </p:sp>
      <p:sp>
        <p:nvSpPr>
          <p:cNvPr id="30" name="Smiley Face 29"/>
          <p:cNvSpPr/>
          <p:nvPr/>
        </p:nvSpPr>
        <p:spPr>
          <a:xfrm>
            <a:off x="5943600" y="1828800"/>
            <a:ext cx="5760720" cy="987552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1828800"/>
            <a:ext cx="54864" cy="9875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1892807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qPCR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22860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정량 분석 · 형광 탐침 불필요
제품 크기 80–200 bp 자동 최적화</a:t>
            </a:r>
          </a:p>
        </p:txBody>
      </p:sp>
      <p:sp>
        <p:nvSpPr>
          <p:cNvPr id="34" name="Smiley Face 33"/>
          <p:cNvSpPr/>
          <p:nvPr/>
        </p:nvSpPr>
        <p:spPr>
          <a:xfrm>
            <a:off x="5943600" y="2926080"/>
            <a:ext cx="5760720" cy="987552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0" y="2926080"/>
            <a:ext cx="54864" cy="9875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2990087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Multiplex qPCR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33832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TaqMan 프로브 자동 설계 포함
여러 타겟 동시 검출 시 사용</a:t>
            </a:r>
          </a:p>
        </p:txBody>
      </p:sp>
      <p:sp>
        <p:nvSpPr>
          <p:cNvPr id="38" name="Smiley Face 37"/>
          <p:cNvSpPr/>
          <p:nvPr/>
        </p:nvSpPr>
        <p:spPr>
          <a:xfrm>
            <a:off x="5943600" y="4023360"/>
            <a:ext cx="5760720" cy="987552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0" y="4023360"/>
            <a:ext cx="54864" cy="9875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408736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</a:rPr>
              <a:t>Standard PCR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448056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겔 전기영동 확인용
제품 크기 제한 완화</a:t>
            </a:r>
          </a:p>
        </p:txBody>
      </p:sp>
      <p:sp>
        <p:nvSpPr>
          <p:cNvPr id="42" name="Smiley Face 41"/>
          <p:cNvSpPr/>
          <p:nvPr/>
        </p:nvSpPr>
        <p:spPr>
          <a:xfrm>
            <a:off x="274320" y="5486400"/>
            <a:ext cx="11612880" cy="685800"/>
          </a:xfrm>
          <a:prstGeom prst="smileyFace">
            <a:avLst>
              <a:gd name="adj" fmla="val 5000"/>
            </a:avLst>
          </a:prstGeom>
          <a:solidFill>
            <a:srgbClr val="2A2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5486400"/>
            <a:ext cx="54864" cy="685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55778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BBF24"/>
                </a:solidFill>
              </a:rPr>
              <a:t>💡  동일 타겟의 변이주(variants) FASTA를 함께 포함하면 커버리지 분석의 신뢰도가 크게 올라갑니다.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280160" cy="64008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84FC"/>
                </a:solidFill>
              </a:rPr>
              <a:t>Step 4–8  |  후보 프라이머 결과 목록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389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각 컬럼이 무엇을 의미하는가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0292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2161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순위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188720"/>
            <a:ext cx="256032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21615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Forward (5'→3')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188720"/>
            <a:ext cx="256032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65576" y="121615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Reverse (5'→3')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188720"/>
            <a:ext cx="64008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71616" y="1216152"/>
            <a:ext cx="594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Tm Fwd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1188720"/>
            <a:ext cx="64008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1216152"/>
            <a:ext cx="594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Tm Rev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188720"/>
            <a:ext cx="54864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1216152"/>
            <a:ext cx="5029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GC%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1188720"/>
            <a:ext cx="77724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37575" y="1216152"/>
            <a:ext cx="731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커버리지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23960" y="1188720"/>
            <a:ext cx="68580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0536" y="121615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AI점수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55480" y="1188720"/>
            <a:ext cx="77724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92056" y="1216152"/>
            <a:ext cx="731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최종점수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645920"/>
            <a:ext cx="502920" cy="457200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" y="1673352"/>
            <a:ext cx="457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6EE7B7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1645920"/>
            <a:ext cx="2560320" cy="457200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1673352"/>
            <a:ext cx="25146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6EE7B7"/>
                </a:solidFill>
              </a:rPr>
              <a:t>ATGGCTAGCTAGCTAGC…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29000" y="1645920"/>
            <a:ext cx="2560320" cy="457200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65576" y="1673352"/>
            <a:ext cx="25146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6EE7B7"/>
                </a:solidFill>
              </a:rPr>
              <a:t>CGATCGATCGATCG…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1645920"/>
            <a:ext cx="640080" cy="457200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71616" y="1673352"/>
            <a:ext cx="59435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6EE7B7"/>
                </a:solidFill>
              </a:rPr>
              <a:t>62.3°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20840" y="1645920"/>
            <a:ext cx="640080" cy="457200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7416" y="1673352"/>
            <a:ext cx="59435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6EE7B7"/>
                </a:solidFill>
              </a:rPr>
              <a:t>61.8°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1645920"/>
            <a:ext cx="548640" cy="457200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1673352"/>
            <a:ext cx="50291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6EE7B7"/>
                </a:solidFill>
              </a:rPr>
              <a:t>52%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01000" y="1645920"/>
            <a:ext cx="777240" cy="457200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37575" y="1673352"/>
            <a:ext cx="73151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94.5%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23960" y="1645920"/>
            <a:ext cx="685800" cy="457200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0536" y="1673352"/>
            <a:ext cx="6400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78.4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55480" y="1645920"/>
            <a:ext cx="777240" cy="457200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92056" y="1673352"/>
            <a:ext cx="73151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88.2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2121408"/>
            <a:ext cx="502920" cy="457200"/>
          </a:xfrm>
          <a:prstGeom prst="rect">
            <a:avLst/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0896" y="2148840"/>
            <a:ext cx="457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2121408"/>
            <a:ext cx="2560320" cy="457200"/>
          </a:xfrm>
          <a:prstGeom prst="rect">
            <a:avLst/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536" y="2148840"/>
            <a:ext cx="25146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GCTAGCTAGCTAGCTAG…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29000" y="2121408"/>
            <a:ext cx="2560320" cy="457200"/>
          </a:xfrm>
          <a:prstGeom prst="rect">
            <a:avLst/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65576" y="2148840"/>
            <a:ext cx="25146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TAGCTAGCTAGCTA…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2121408"/>
            <a:ext cx="640080" cy="457200"/>
          </a:xfrm>
          <a:prstGeom prst="rect">
            <a:avLst/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71616" y="2148840"/>
            <a:ext cx="59435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60.1°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20840" y="2121408"/>
            <a:ext cx="640080" cy="457200"/>
          </a:xfrm>
          <a:prstGeom prst="rect">
            <a:avLst/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57416" y="2148840"/>
            <a:ext cx="59435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61.2°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06640" y="2121408"/>
            <a:ext cx="548640" cy="457200"/>
          </a:xfrm>
          <a:prstGeom prst="rect">
            <a:avLst/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43215" y="2148840"/>
            <a:ext cx="50291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48%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01000" y="2121408"/>
            <a:ext cx="777240" cy="457200"/>
          </a:xfrm>
          <a:prstGeom prst="rect">
            <a:avLst/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37575" y="2148840"/>
            <a:ext cx="73151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87.3%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23960" y="2121408"/>
            <a:ext cx="685800" cy="457200"/>
          </a:xfrm>
          <a:prstGeom prst="rect">
            <a:avLst/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60536" y="2148840"/>
            <a:ext cx="6400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71.2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555480" y="2121408"/>
            <a:ext cx="777240" cy="457200"/>
          </a:xfrm>
          <a:prstGeom prst="rect">
            <a:avLst/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92056" y="2148840"/>
            <a:ext cx="73151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82.5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2596896"/>
            <a:ext cx="502920" cy="4572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10896" y="2624328"/>
            <a:ext cx="457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60" y="2596896"/>
            <a:ext cx="2560320" cy="4572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9536" y="2624328"/>
            <a:ext cx="25146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CGATCGATCGATCGATC…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429000" y="2596896"/>
            <a:ext cx="2560320" cy="4572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65576" y="2624328"/>
            <a:ext cx="25146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ATCGATCGATCGAT…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35040" y="2596896"/>
            <a:ext cx="640080" cy="4572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71616" y="2624328"/>
            <a:ext cx="59435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63.5°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20840" y="2596896"/>
            <a:ext cx="640080" cy="4572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757416" y="2624328"/>
            <a:ext cx="59435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60.2°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406640" y="2596896"/>
            <a:ext cx="548640" cy="4572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443215" y="2624328"/>
            <a:ext cx="50291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55%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01000" y="2596896"/>
            <a:ext cx="777240" cy="4572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037575" y="2624328"/>
            <a:ext cx="73151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79.1%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823960" y="2596896"/>
            <a:ext cx="685800" cy="4572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860536" y="2624328"/>
            <a:ext cx="6400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65.8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555480" y="2596896"/>
            <a:ext cx="777240" cy="4572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592056" y="2624328"/>
            <a:ext cx="73151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75.3</a:t>
            </a:r>
          </a:p>
        </p:txBody>
      </p:sp>
      <p:sp>
        <p:nvSpPr>
          <p:cNvPr id="78" name="Smiley Face 77"/>
          <p:cNvSpPr/>
          <p:nvPr/>
        </p:nvSpPr>
        <p:spPr>
          <a:xfrm>
            <a:off x="274320" y="3246120"/>
            <a:ext cx="11612880" cy="324612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2920" y="33558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📖  각 수치 해석 가이드</a:t>
            </a:r>
          </a:p>
        </p:txBody>
      </p:sp>
      <p:sp>
        <p:nvSpPr>
          <p:cNvPr id="80" name="Smiley Face 79"/>
          <p:cNvSpPr/>
          <p:nvPr/>
        </p:nvSpPr>
        <p:spPr>
          <a:xfrm>
            <a:off x="365760" y="3840480"/>
            <a:ext cx="2194560" cy="242316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65760" y="3840480"/>
            <a:ext cx="219456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2920" y="395020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Tm (융해온도)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4407408"/>
            <a:ext cx="20116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포워드·리버스 차이 ±2°C 이내 권장
차이가 클수록 PCR 최적화 어려움</a:t>
            </a:r>
          </a:p>
        </p:txBody>
      </p:sp>
      <p:sp>
        <p:nvSpPr>
          <p:cNvPr id="84" name="Smiley Face 83"/>
          <p:cNvSpPr/>
          <p:nvPr/>
        </p:nvSpPr>
        <p:spPr>
          <a:xfrm>
            <a:off x="2679191" y="3840480"/>
            <a:ext cx="2194560" cy="242316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679191" y="3840480"/>
            <a:ext cx="219456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816352" y="395020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GC%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816352" y="4407408"/>
            <a:ext cx="20116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40–60% 범위가 이상적
극단값은 비특이 증폭 위험</a:t>
            </a:r>
          </a:p>
        </p:txBody>
      </p:sp>
      <p:sp>
        <p:nvSpPr>
          <p:cNvPr id="88" name="Smiley Face 87"/>
          <p:cNvSpPr/>
          <p:nvPr/>
        </p:nvSpPr>
        <p:spPr>
          <a:xfrm>
            <a:off x="4992624" y="3840480"/>
            <a:ext cx="2194560" cy="242316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992624" y="3840480"/>
            <a:ext cx="2194560" cy="6400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129783" y="395020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커버리지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29783" y="4407408"/>
            <a:ext cx="20116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입력 서열 중 증폭 가능 비율
80% 이상 후보를 우선 선택</a:t>
            </a:r>
          </a:p>
        </p:txBody>
      </p:sp>
      <p:sp>
        <p:nvSpPr>
          <p:cNvPr id="92" name="Smiley Face 91"/>
          <p:cNvSpPr/>
          <p:nvPr/>
        </p:nvSpPr>
        <p:spPr>
          <a:xfrm>
            <a:off x="7306056" y="3840480"/>
            <a:ext cx="2194560" cy="242316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306056" y="3840480"/>
            <a:ext cx="2194560" cy="64008"/>
          </a:xfrm>
          <a:prstGeom prst="rect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443216" y="395020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27E"/>
                </a:solidFill>
              </a:rPr>
              <a:t>AI 점수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443216" y="4407408"/>
            <a:ext cx="20116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설계 품질 종합 예측 (0–100)
점수 낮으면 근거 클릭해 원인 확인</a:t>
            </a:r>
          </a:p>
        </p:txBody>
      </p:sp>
      <p:sp>
        <p:nvSpPr>
          <p:cNvPr id="96" name="Smiley Face 95"/>
          <p:cNvSpPr/>
          <p:nvPr/>
        </p:nvSpPr>
        <p:spPr>
          <a:xfrm>
            <a:off x="9619488" y="3840480"/>
            <a:ext cx="2194560" cy="242316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619488" y="3840480"/>
            <a:ext cx="2194560" cy="64008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756648" y="395020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E7B7"/>
                </a:solidFill>
              </a:rPr>
              <a:t>최종 점수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756648" y="4407408"/>
            <a:ext cx="20116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커버리지·Tm·AI·특이성 가중 합산
실험 우선순위 결정 기준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28016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Step 6  |  변이 커버리지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389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이 프라이머가 몇 %의 변이주를 검출할 수 있는가</a:t>
            </a:r>
          </a:p>
        </p:txBody>
      </p:sp>
      <p:sp>
        <p:nvSpPr>
          <p:cNvPr id="6" name="Smiley Face 5"/>
          <p:cNvSpPr/>
          <p:nvPr/>
        </p:nvSpPr>
        <p:spPr>
          <a:xfrm>
            <a:off x="274320" y="1188720"/>
            <a:ext cx="5303520" cy="50749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</a:rPr>
              <a:t>커버리지란?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입력한 FASTA 서열 전체 중, 해당 프라이머 쌍이
≤2개 미스매치 조건으로 결합 가능한 서열의 비율입니다.
예: 서열 100개 중 94개에 결합 가능 → 커버리지 94%</a:t>
            </a:r>
          </a:p>
        </p:txBody>
      </p:sp>
      <p:sp>
        <p:nvSpPr>
          <p:cNvPr id="9" name="Smiley Face 8"/>
          <p:cNvSpPr/>
          <p:nvPr/>
        </p:nvSpPr>
        <p:spPr>
          <a:xfrm>
            <a:off x="411480" y="3246120"/>
            <a:ext cx="5029200" cy="512064"/>
          </a:xfrm>
          <a:prstGeom prst="smileyFace">
            <a:avLst>
              <a:gd name="adj" fmla="val 5000"/>
            </a:avLst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3246120"/>
            <a:ext cx="54864" cy="5120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291840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90% 이상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291840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최우선 선택</a:t>
            </a:r>
          </a:p>
        </p:txBody>
      </p:sp>
      <p:sp>
        <p:nvSpPr>
          <p:cNvPr id="13" name="Smiley Face 12"/>
          <p:cNvSpPr/>
          <p:nvPr/>
        </p:nvSpPr>
        <p:spPr>
          <a:xfrm>
            <a:off x="411480" y="3813048"/>
            <a:ext cx="5029200" cy="512064"/>
          </a:xfrm>
          <a:prstGeom prst="smileyFace">
            <a:avLst>
              <a:gd name="adj" fmla="val 5000"/>
            </a:avLst>
          </a:prstGeom>
          <a:solidFill>
            <a:srgbClr val="2A2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813048"/>
            <a:ext cx="54864" cy="5120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858768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70–90%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85876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조건부 선택</a:t>
            </a:r>
          </a:p>
        </p:txBody>
      </p:sp>
      <p:sp>
        <p:nvSpPr>
          <p:cNvPr id="17" name="Smiley Face 16"/>
          <p:cNvSpPr/>
          <p:nvPr/>
        </p:nvSpPr>
        <p:spPr>
          <a:xfrm>
            <a:off x="411480" y="4379976"/>
            <a:ext cx="5029200" cy="512064"/>
          </a:xfrm>
          <a:prstGeom prst="smileyFace">
            <a:avLst>
              <a:gd name="adj" fmla="val 5000"/>
            </a:avLst>
          </a:prstGeom>
          <a:solidFill>
            <a:srgbClr val="2A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4379976"/>
            <a:ext cx="54864" cy="51206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425696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923C"/>
                </a:solidFill>
              </a:rPr>
              <a:t>50–70%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425696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파라미터 재조정</a:t>
            </a:r>
          </a:p>
        </p:txBody>
      </p:sp>
      <p:sp>
        <p:nvSpPr>
          <p:cNvPr id="21" name="Smiley Face 20"/>
          <p:cNvSpPr/>
          <p:nvPr/>
        </p:nvSpPr>
        <p:spPr>
          <a:xfrm>
            <a:off x="411480" y="4946904"/>
            <a:ext cx="5029200" cy="512064"/>
          </a:xfrm>
          <a:prstGeom prst="smileyFace">
            <a:avLst>
              <a:gd name="adj" fmla="val 5000"/>
            </a:avLst>
          </a:prstGeom>
          <a:solidFill>
            <a:srgbClr val="2A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946904"/>
            <a:ext cx="54864" cy="512064"/>
          </a:xfrm>
          <a:prstGeom prst="rect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992624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27E"/>
                </a:solidFill>
              </a:rPr>
              <a:t>50% 미만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992624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사용 비권장</a:t>
            </a:r>
          </a:p>
        </p:txBody>
      </p:sp>
      <p:sp>
        <p:nvSpPr>
          <p:cNvPr id="25" name="Smiley Face 24"/>
          <p:cNvSpPr/>
          <p:nvPr/>
        </p:nvSpPr>
        <p:spPr>
          <a:xfrm>
            <a:off x="5806440" y="1188720"/>
            <a:ext cx="6080760" cy="50749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89320" y="129844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B7"/>
                </a:solidFill>
              </a:rPr>
              <a:t>🔬  실무 시나리오</a:t>
            </a:r>
          </a:p>
        </p:txBody>
      </p:sp>
      <p:sp>
        <p:nvSpPr>
          <p:cNvPr id="27" name="Smiley Face 26"/>
          <p:cNvSpPr/>
          <p:nvPr/>
        </p:nvSpPr>
        <p:spPr>
          <a:xfrm>
            <a:off x="5943600" y="1828800"/>
            <a:ext cx="5760720" cy="1353312"/>
          </a:xfrm>
          <a:prstGeom prst="smileyFace">
            <a:avLst>
              <a:gd name="adj" fmla="val 5000"/>
            </a:avLst>
          </a:prstGeom>
          <a:solidFill>
            <a:srgbClr val="05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1828800"/>
            <a:ext cx="54864" cy="135331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19385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SARS-CoV-2 변이주 대응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2331720"/>
            <a:ext cx="54864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Alpha·Delta·Omicron 서열을 모두 포함한
FASTA 업로드 → 커버리지 90%+ 후보 선택
→ 범용 진단 키트 개발 가능</a:t>
            </a:r>
          </a:p>
        </p:txBody>
      </p:sp>
      <p:sp>
        <p:nvSpPr>
          <p:cNvPr id="31" name="Smiley Face 30"/>
          <p:cNvSpPr/>
          <p:nvPr/>
        </p:nvSpPr>
        <p:spPr>
          <a:xfrm>
            <a:off x="5943600" y="3291840"/>
            <a:ext cx="5760720" cy="1353312"/>
          </a:xfrm>
          <a:prstGeom prst="smileyFace">
            <a:avLst>
              <a:gd name="adj" fmla="val 5000"/>
            </a:avLst>
          </a:prstGeom>
          <a:solidFill>
            <a:srgbClr val="05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0" y="3291840"/>
            <a:ext cx="54864" cy="1353312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34015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84FC"/>
                </a:solidFill>
              </a:rPr>
              <a:t>인플루엔자 A/B 구분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3794760"/>
            <a:ext cx="54864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A형·B형 서열 혼합 업로드 시
커버리지가 낮은 후보 = 특정 아형 특이적
→ 의도적으로 낮은 커버리지 활용 가능</a:t>
            </a:r>
          </a:p>
        </p:txBody>
      </p:sp>
      <p:sp>
        <p:nvSpPr>
          <p:cNvPr id="35" name="Smiley Face 34"/>
          <p:cNvSpPr/>
          <p:nvPr/>
        </p:nvSpPr>
        <p:spPr>
          <a:xfrm>
            <a:off x="5943600" y="4754880"/>
            <a:ext cx="5760720" cy="1353312"/>
          </a:xfrm>
          <a:prstGeom prst="smileyFace">
            <a:avLst>
              <a:gd name="adj" fmla="val 5000"/>
            </a:avLst>
          </a:prstGeom>
          <a:solidFill>
            <a:srgbClr val="05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43600" y="4754880"/>
            <a:ext cx="54864" cy="135331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48646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923C"/>
                </a:solidFill>
              </a:rPr>
              <a:t>커버리지가 낮을 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5257800"/>
            <a:ext cx="54864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Advanced Options에서 최대 미스매치 수 조정
(기본값 2 → 3으로 완화)
단, 특이성 점수 동시 확인 필수</a:t>
            </a:r>
          </a:p>
        </p:txBody>
      </p:sp>
      <p:sp>
        <p:nvSpPr>
          <p:cNvPr id="39" name="Smiley Face 38"/>
          <p:cNvSpPr/>
          <p:nvPr/>
        </p:nvSpPr>
        <p:spPr>
          <a:xfrm>
            <a:off x="274320" y="6400800"/>
            <a:ext cx="11612880" cy="685800"/>
          </a:xfrm>
          <a:prstGeom prst="smileyFace">
            <a:avLst>
              <a:gd name="adj" fmla="val 5000"/>
            </a:avLst>
          </a:prstGeom>
          <a:solidFill>
            <a:srgbClr val="2A2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6400800"/>
            <a:ext cx="54864" cy="685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79" y="64922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BBF24"/>
                </a:solidFill>
              </a:rPr>
              <a:t>💡  커버리지 80% 미만이면 Advanced Options → Max Mismatches를 3으로 높이거나, 보존 영역 임계값을 낮춰보세요.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280160" cy="64008"/>
          </a:xfrm>
          <a:prstGeom prst="rect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27E"/>
                </a:solidFill>
              </a:rPr>
              <a:t>Step 7  |  열역학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389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Tm · GC% · 이합체 · 헤어핀 — 실험 전 검증</a:t>
            </a:r>
          </a:p>
        </p:txBody>
      </p:sp>
      <p:sp>
        <p:nvSpPr>
          <p:cNvPr id="6" name="Smiley Face 5"/>
          <p:cNvSpPr/>
          <p:nvPr/>
        </p:nvSpPr>
        <p:spPr>
          <a:xfrm>
            <a:off x="274320" y="1234440"/>
            <a:ext cx="3749039" cy="50749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749039" cy="73152"/>
          </a:xfrm>
          <a:prstGeom prst="rect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716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🌡️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8988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727E"/>
                </a:solidFill>
              </a:rPr>
              <a:t>융해온도 (Tm)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qPCR 권장: 58–65°C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974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포워드·리버스 차이 ≤2°C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Multiplex: 프로브 Tm이 프라이머보다 5–10°C 높아야 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160520"/>
            <a:ext cx="3657600" cy="1143000"/>
          </a:xfrm>
          <a:prstGeom prst="rect">
            <a:avLst/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2452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💬 Tm 균형이 맞지 않으면 한 프라이머가 먼저 결합
해제되어 증폭 효율이 급격히 떨어집니다.</a:t>
            </a:r>
          </a:p>
        </p:txBody>
      </p:sp>
      <p:sp>
        <p:nvSpPr>
          <p:cNvPr id="15" name="Smiley Face 14"/>
          <p:cNvSpPr/>
          <p:nvPr/>
        </p:nvSpPr>
        <p:spPr>
          <a:xfrm>
            <a:off x="4251959" y="1234440"/>
            <a:ext cx="3749039" cy="50749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1234440"/>
            <a:ext cx="3749039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3716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79" y="138988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0A5FA"/>
                </a:solidFill>
              </a:rPr>
              <a:t>GC 함량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0574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이상 범위: 40–60%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974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3'-end 마지막 5nt: GC 2–3개 권장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3375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GC 클램프 과강(&gt;80%) = 비특이 결합 위험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79" y="4160520"/>
            <a:ext cx="3657600" cy="1143000"/>
          </a:xfrm>
          <a:prstGeom prst="rect">
            <a:avLst/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22452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💬 3'-end GC 클램프는 프라이머 신장 시작 안정성을
결정합니다. GC로 끝나는 구조가 이상적입니다.</a:t>
            </a:r>
          </a:p>
        </p:txBody>
      </p:sp>
      <p:sp>
        <p:nvSpPr>
          <p:cNvPr id="24" name="Smiley Face 23"/>
          <p:cNvSpPr/>
          <p:nvPr/>
        </p:nvSpPr>
        <p:spPr>
          <a:xfrm>
            <a:off x="8229600" y="1234440"/>
            <a:ext cx="3749039" cy="50749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1234440"/>
            <a:ext cx="3749039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59" y="13716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19" y="138988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923C"/>
                </a:solidFill>
              </a:rPr>
              <a:t>이합체·헤어핀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0574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Δ G &gt; -6 kcal/mol 권장 (덜 안정적일수록 좋음)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6974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3'-end 이합체는 특히 위험 → 즉각 폐기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3375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헤어핀 Tm이 어닐링 온도보다 낮아야 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19" y="4160520"/>
            <a:ext cx="3657600" cy="1143000"/>
          </a:xfrm>
          <a:prstGeom prst="rect">
            <a:avLst/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422452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💬 이합체 형성은 실제 PCR에서 가짜 밴드(artifact)를
만드는 주원인입니다.</a:t>
            </a:r>
          </a:p>
        </p:txBody>
      </p:sp>
      <p:sp>
        <p:nvSpPr>
          <p:cNvPr id="33" name="Smiley Face 32"/>
          <p:cNvSpPr/>
          <p:nvPr/>
        </p:nvSpPr>
        <p:spPr>
          <a:xfrm>
            <a:off x="274320" y="5532120"/>
            <a:ext cx="11612880" cy="685800"/>
          </a:xfrm>
          <a:prstGeom prst="smileyFace">
            <a:avLst>
              <a:gd name="adj" fmla="val 5000"/>
            </a:avLst>
          </a:prstGeom>
          <a:solidFill>
            <a:srgbClr val="2A2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5532120"/>
            <a:ext cx="54864" cy="685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79" y="5623559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BBF24"/>
                </a:solidFill>
              </a:rPr>
              <a:t>💡  Tm 차이가 3°C를 넘는 후보는 Gradient PCR로 최적 어닐링 온도를 찾거나 다음 순위 후보로 교체하세요.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28016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Step 8  |  AI 효율 점수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389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점수가 낮다면 — 어디서 깎였는지 확인하라</a:t>
            </a:r>
          </a:p>
        </p:txBody>
      </p:sp>
      <p:sp>
        <p:nvSpPr>
          <p:cNvPr id="6" name="Smiley Face 5"/>
          <p:cNvSpPr/>
          <p:nvPr/>
        </p:nvSpPr>
        <p:spPr>
          <a:xfrm>
            <a:off x="274320" y="1188720"/>
            <a:ext cx="5394960" cy="50749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B7"/>
                </a:solidFill>
              </a:rPr>
              <a:t>AI 점수 구성 (0–100점)</a:t>
            </a:r>
          </a:p>
        </p:txBody>
      </p:sp>
      <p:sp>
        <p:nvSpPr>
          <p:cNvPr id="8" name="Smiley Face 7"/>
          <p:cNvSpPr/>
          <p:nvPr/>
        </p:nvSpPr>
        <p:spPr>
          <a:xfrm>
            <a:off x="411480" y="1828800"/>
            <a:ext cx="5120640" cy="50292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기본 점수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874519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</a:rPr>
              <a:t>+60점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7451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모든 후보의 출발점</a:t>
            </a:r>
          </a:p>
        </p:txBody>
      </p:sp>
      <p:sp>
        <p:nvSpPr>
          <p:cNvPr id="12" name="Smiley Face 11"/>
          <p:cNvSpPr/>
          <p:nvPr/>
        </p:nvSpPr>
        <p:spPr>
          <a:xfrm>
            <a:off x="411480" y="2377440"/>
            <a:ext cx="5120640" cy="50292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231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GC% (양방향)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42316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4727E"/>
                </a:solidFill>
              </a:rPr>
              <a:t>최대-16점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423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40–60% 벗어나면 감점</a:t>
            </a:r>
          </a:p>
        </p:txBody>
      </p:sp>
      <p:sp>
        <p:nvSpPr>
          <p:cNvPr id="16" name="Smiley Face 15"/>
          <p:cNvSpPr/>
          <p:nvPr/>
        </p:nvSpPr>
        <p:spPr>
          <a:xfrm>
            <a:off x="411480" y="2926080"/>
            <a:ext cx="5120640" cy="50292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9718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Tm 균형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297180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4727E"/>
                </a:solidFill>
              </a:rPr>
              <a:t>최대-15점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971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Tm 차이 1°C당 -3점</a:t>
            </a:r>
          </a:p>
        </p:txBody>
      </p:sp>
      <p:sp>
        <p:nvSpPr>
          <p:cNvPr id="20" name="Smiley Face 19"/>
          <p:cNvSpPr/>
          <p:nvPr/>
        </p:nvSpPr>
        <p:spPr>
          <a:xfrm>
            <a:off x="411480" y="3474720"/>
            <a:ext cx="5120640" cy="50292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52043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3'-end GC 클램프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3520439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4727E"/>
                </a:solidFill>
              </a:rPr>
              <a:t>최대-13점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52043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너무 약하면 -8, 강하면 -5</a:t>
            </a:r>
          </a:p>
        </p:txBody>
      </p:sp>
      <p:sp>
        <p:nvSpPr>
          <p:cNvPr id="24" name="Smiley Face 23"/>
          <p:cNvSpPr/>
          <p:nvPr/>
        </p:nvSpPr>
        <p:spPr>
          <a:xfrm>
            <a:off x="411480" y="4023360"/>
            <a:ext cx="5120640" cy="50292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0690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이중가닥 엔트로피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4069079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</a:rPr>
              <a:t>±보정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06907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서열 복잡도 보너스</a:t>
            </a:r>
          </a:p>
        </p:txBody>
      </p:sp>
      <p:sp>
        <p:nvSpPr>
          <p:cNvPr id="28" name="Smiley Face 27"/>
          <p:cNvSpPr/>
          <p:nvPr/>
        </p:nvSpPr>
        <p:spPr>
          <a:xfrm>
            <a:off x="411480" y="4572000"/>
            <a:ext cx="5120640" cy="50292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617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제품 크기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461772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</a:rPr>
              <a:t>±5점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617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80–200bp → +5, &gt;250bp → -5</a:t>
            </a:r>
          </a:p>
        </p:txBody>
      </p:sp>
      <p:sp>
        <p:nvSpPr>
          <p:cNvPr id="32" name="Smiley Face 31"/>
          <p:cNvSpPr/>
          <p:nvPr/>
        </p:nvSpPr>
        <p:spPr>
          <a:xfrm>
            <a:off x="411480" y="5120640"/>
            <a:ext cx="5120640" cy="50292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16635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보존 영역 품질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5166359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4727E"/>
                </a:solidFill>
              </a:rPr>
              <a:t>최대-10점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516635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엔트로피 낮을수록 유리</a:t>
            </a:r>
          </a:p>
        </p:txBody>
      </p:sp>
      <p:sp>
        <p:nvSpPr>
          <p:cNvPr id="36" name="Smiley Face 35"/>
          <p:cNvSpPr/>
          <p:nvPr/>
        </p:nvSpPr>
        <p:spPr>
          <a:xfrm>
            <a:off x="5897880" y="1188720"/>
            <a:ext cx="5989320" cy="246888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0760" y="129844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B7"/>
                </a:solidFill>
              </a:rPr>
              <a:t>📋  보고서에서 근거 확인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178308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HTML 보고서 하단
"Candidate Details — AI Score Breakdown"
섹션을 클릭하면 후보별 점수 세부 내역 확인 가능</a:t>
            </a:r>
          </a:p>
        </p:txBody>
      </p:sp>
      <p:sp>
        <p:nvSpPr>
          <p:cNvPr id="39" name="Smiley Face 38"/>
          <p:cNvSpPr/>
          <p:nvPr/>
        </p:nvSpPr>
        <p:spPr>
          <a:xfrm>
            <a:off x="5897880" y="3840480"/>
            <a:ext cx="5989320" cy="242316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395020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B7"/>
                </a:solidFill>
              </a:rPr>
              <a:t>📊  점수 구간별 실험 판단</a:t>
            </a:r>
          </a:p>
        </p:txBody>
      </p:sp>
      <p:sp>
        <p:nvSpPr>
          <p:cNvPr id="41" name="Smiley Face 40"/>
          <p:cNvSpPr/>
          <p:nvPr/>
        </p:nvSpPr>
        <p:spPr>
          <a:xfrm>
            <a:off x="6035040" y="4434840"/>
            <a:ext cx="5715000" cy="393192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35040" y="4434840"/>
            <a:ext cx="45720" cy="3931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72200" y="447141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80점 이상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4471416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바로 주문·합성 진행</a:t>
            </a:r>
          </a:p>
        </p:txBody>
      </p:sp>
      <p:sp>
        <p:nvSpPr>
          <p:cNvPr id="45" name="Smiley Face 44"/>
          <p:cNvSpPr/>
          <p:nvPr/>
        </p:nvSpPr>
        <p:spPr>
          <a:xfrm>
            <a:off x="6035040" y="4873752"/>
            <a:ext cx="5715000" cy="393192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35040" y="4873752"/>
            <a:ext cx="45720" cy="3931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72200" y="4910327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60–80점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4910327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보완 파라미터 확인 후 진행</a:t>
            </a:r>
          </a:p>
        </p:txBody>
      </p:sp>
      <p:sp>
        <p:nvSpPr>
          <p:cNvPr id="49" name="Smiley Face 48"/>
          <p:cNvSpPr/>
          <p:nvPr/>
        </p:nvSpPr>
        <p:spPr>
          <a:xfrm>
            <a:off x="6035040" y="5312664"/>
            <a:ext cx="5715000" cy="393192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35040" y="5312664"/>
            <a:ext cx="45720" cy="39319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72200" y="53492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923C"/>
                </a:solidFill>
              </a:rPr>
              <a:t>40–60점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20" y="534924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설계 재검토 권장</a:t>
            </a:r>
          </a:p>
        </p:txBody>
      </p:sp>
      <p:sp>
        <p:nvSpPr>
          <p:cNvPr id="53" name="Smiley Face 52"/>
          <p:cNvSpPr/>
          <p:nvPr/>
        </p:nvSpPr>
        <p:spPr>
          <a:xfrm>
            <a:off x="6035040" y="5751575"/>
            <a:ext cx="5715000" cy="393192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035040" y="5751575"/>
            <a:ext cx="45720" cy="393192"/>
          </a:xfrm>
          <a:prstGeom prst="rect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72200" y="57881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27E"/>
                </a:solidFill>
              </a:rPr>
              <a:t>40점 미만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89520" y="5788152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후보 제외 또는 재설계</a:t>
            </a:r>
          </a:p>
        </p:txBody>
      </p:sp>
      <p:sp>
        <p:nvSpPr>
          <p:cNvPr id="57" name="Smiley Face 56"/>
          <p:cNvSpPr/>
          <p:nvPr/>
        </p:nvSpPr>
        <p:spPr>
          <a:xfrm>
            <a:off x="274320" y="6400800"/>
            <a:ext cx="11612880" cy="685800"/>
          </a:xfrm>
          <a:prstGeom prst="smileyFace">
            <a:avLst>
              <a:gd name="adj" fmla="val 5000"/>
            </a:avLst>
          </a:prstGeom>
          <a:solidFill>
            <a:srgbClr val="2A2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74320" y="6400800"/>
            <a:ext cx="54864" cy="685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79" y="64922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BBF24"/>
                </a:solidFill>
              </a:rPr>
              <a:t>💡  AI 점수가 낮아도 커버리지·Tm이 우수하면 실험적으로 성공하는 경우가 있습니다. 최종 점수(가중합)를 기준으로 판단하세요.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280160" cy="6400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Step 9  |  보고서 활용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389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HTML 보고서를 최대한 활용하는 방법</a:t>
            </a:r>
          </a:p>
        </p:txBody>
      </p:sp>
      <p:sp>
        <p:nvSpPr>
          <p:cNvPr id="6" name="Smiley Face 5"/>
          <p:cNvSpPr/>
          <p:nvPr/>
        </p:nvSpPr>
        <p:spPr>
          <a:xfrm>
            <a:off x="274320" y="1234440"/>
            <a:ext cx="2834640" cy="50749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834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716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📈 요약 테이블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659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상위 후보 전체 수치 한눈에 비교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2432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컬럼 헤더 클릭 → 정렬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282696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최종 점수 기준으로 우선순위 확인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846320"/>
            <a:ext cx="2743200" cy="1280160"/>
          </a:xfrm>
          <a:prstGeom prst="rect">
            <a:avLst/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9194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📌 언제 쓰나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578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가장 먼저 확인
→ 상위 3개 후보 선정</a:t>
            </a:r>
          </a:p>
        </p:txBody>
      </p:sp>
      <p:sp>
        <p:nvSpPr>
          <p:cNvPr id="15" name="Smiley Face 14"/>
          <p:cNvSpPr/>
          <p:nvPr/>
        </p:nvSpPr>
        <p:spPr>
          <a:xfrm>
            <a:off x="3264408" y="1234440"/>
            <a:ext cx="2834640" cy="50749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64408" y="1234440"/>
            <a:ext cx="283464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1568" y="13716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🧬 서열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19659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Forward·Reverse 전체 서열 복사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262432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제품 크기, 위치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3282696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프로브 서열 (Multiplex 시)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0128" y="4846320"/>
            <a:ext cx="2743200" cy="1280160"/>
          </a:xfrm>
          <a:prstGeom prst="rect">
            <a:avLst/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47288" y="49194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📌 언제 쓰나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7288" y="52578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합성 발주 시
서열 그대로 복사</a:t>
            </a:r>
          </a:p>
        </p:txBody>
      </p:sp>
      <p:sp>
        <p:nvSpPr>
          <p:cNvPr id="24" name="Smiley Face 23"/>
          <p:cNvSpPr/>
          <p:nvPr/>
        </p:nvSpPr>
        <p:spPr>
          <a:xfrm>
            <a:off x="6254496" y="1234440"/>
            <a:ext cx="2834640" cy="50749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4496" y="1234440"/>
            <a:ext cx="2834640" cy="73152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6" y="13716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84FC"/>
                </a:solidFill>
              </a:rPr>
              <a:t>🤖 AI 근거 세부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6" y="19659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후보 클릭 → 점수 성분별 분해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262432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어느 특성이 점수 낮춘지 확인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3282696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재설계 방향 파악 가능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0216" y="4846320"/>
            <a:ext cx="2743200" cy="1280160"/>
          </a:xfrm>
          <a:prstGeom prst="rect">
            <a:avLst/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37376" y="49194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84FC"/>
                </a:solidFill>
              </a:rPr>
              <a:t>📌 언제 쓰나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6" y="52578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점수 낮은 이유
파악할 때</a:t>
            </a:r>
          </a:p>
        </p:txBody>
      </p:sp>
      <p:sp>
        <p:nvSpPr>
          <p:cNvPr id="33" name="Smiley Face 32"/>
          <p:cNvSpPr/>
          <p:nvPr/>
        </p:nvSpPr>
        <p:spPr>
          <a:xfrm>
            <a:off x="9244584" y="1234440"/>
            <a:ext cx="2834640" cy="50749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44584" y="1234440"/>
            <a:ext cx="2834640" cy="73152"/>
          </a:xfrm>
          <a:prstGeom prst="rect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81744" y="13716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727E"/>
                </a:solidFill>
              </a:rPr>
              <a:t>📥 PDF 다운로드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81744" y="19659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보고서 전체 PDF 저장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81744" y="262432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팀 공유·아카이빙 용도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81744" y="3282696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• ELN(전자실험노트) 첨부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90304" y="4846320"/>
            <a:ext cx="2743200" cy="1280160"/>
          </a:xfrm>
          <a:prstGeom prst="rect">
            <a:avLst/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27464" y="49194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27E"/>
                </a:solidFill>
              </a:rPr>
              <a:t>📌 언제 쓰나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27464" y="52578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연구 기록 보관
· 팀 공유</a:t>
            </a:r>
          </a:p>
        </p:txBody>
      </p:sp>
      <p:sp>
        <p:nvSpPr>
          <p:cNvPr id="42" name="Smiley Face 41"/>
          <p:cNvSpPr/>
          <p:nvPr/>
        </p:nvSpPr>
        <p:spPr>
          <a:xfrm>
            <a:off x="274320" y="6419088"/>
            <a:ext cx="11612880" cy="685800"/>
          </a:xfrm>
          <a:prstGeom prst="smileyFace">
            <a:avLst>
              <a:gd name="adj" fmla="val 5000"/>
            </a:avLst>
          </a:prstGeom>
          <a:solidFill>
            <a:srgbClr val="2A2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6419088"/>
            <a:ext cx="54864" cy="685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510527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BBF24"/>
                </a:solidFill>
              </a:rPr>
              <a:t>💡  HTML 보고서는 브라우저에서 열리며 인터넷 연결 없이도 동작합니다. 팀원에게 파일로 전달하면 동일하게 확인 가능합니다.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280160" cy="6400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923C"/>
                </a:solidFill>
              </a:rPr>
              <a:t>실험 전 최종 체크리스트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389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프라이머 합성 발주 전 반드시 확인할 것들</a:t>
            </a:r>
          </a:p>
        </p:txBody>
      </p:sp>
      <p:sp>
        <p:nvSpPr>
          <p:cNvPr id="6" name="Smiley Face 5"/>
          <p:cNvSpPr/>
          <p:nvPr/>
        </p:nvSpPr>
        <p:spPr>
          <a:xfrm>
            <a:off x="274320" y="1234440"/>
            <a:ext cx="5760720" cy="11887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4864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74320" cy="274320"/>
          </a:xfrm>
          <a:prstGeom prst="rect">
            <a:avLst/>
          </a:prstGeom>
          <a:solidFill>
            <a:srgbClr val="16223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441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커버리지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선택 후보의 커버리지 ≥ 80%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7568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→ 분자진단 제품은 변이 대응률이 핵심 — 낮으면 실패</a:t>
            </a:r>
          </a:p>
        </p:txBody>
      </p:sp>
      <p:sp>
        <p:nvSpPr>
          <p:cNvPr id="12" name="Smiley Face 11"/>
          <p:cNvSpPr/>
          <p:nvPr/>
        </p:nvSpPr>
        <p:spPr>
          <a:xfrm>
            <a:off x="274320" y="2532888"/>
            <a:ext cx="5760720" cy="11887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32888"/>
            <a:ext cx="54864" cy="1188720"/>
          </a:xfrm>
          <a:prstGeom prst="rect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670048"/>
            <a:ext cx="274320" cy="274320"/>
          </a:xfrm>
          <a:prstGeom prst="rect">
            <a:avLst/>
          </a:prstGeom>
          <a:solidFill>
            <a:srgbClr val="162234"/>
          </a:solidFill>
          <a:ln>
            <a:solidFill>
              <a:srgbClr val="F47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642615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727E"/>
                </a:solidFill>
              </a:rPr>
              <a:t>Tm 균형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0358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포워드·리버스 Tm 차이 ≤ 2°C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7413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→ 차이가 크면 한 프라이머가 먼저 탈락해 증폭 불안정</a:t>
            </a:r>
          </a:p>
        </p:txBody>
      </p:sp>
      <p:sp>
        <p:nvSpPr>
          <p:cNvPr id="18" name="Smiley Face 17"/>
          <p:cNvSpPr/>
          <p:nvPr/>
        </p:nvSpPr>
        <p:spPr>
          <a:xfrm>
            <a:off x="274320" y="3831335"/>
            <a:ext cx="5760720" cy="11887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831335"/>
            <a:ext cx="54864" cy="1188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68496"/>
            <a:ext cx="274320" cy="274320"/>
          </a:xfrm>
          <a:prstGeom prst="rect">
            <a:avLst/>
          </a:prstGeom>
          <a:solidFill>
            <a:srgbClr val="16223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941063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GC%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342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두 프라이머 모두 40–60% 범위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672583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→ GC 극단값은 비특이 결합 및 이합체 형성 위험</a:t>
            </a:r>
          </a:p>
        </p:txBody>
      </p:sp>
      <p:sp>
        <p:nvSpPr>
          <p:cNvPr id="24" name="Smiley Face 23"/>
          <p:cNvSpPr/>
          <p:nvPr/>
        </p:nvSpPr>
        <p:spPr>
          <a:xfrm>
            <a:off x="274320" y="5129783"/>
            <a:ext cx="5760720" cy="11887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5129783"/>
            <a:ext cx="54864" cy="1188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266944"/>
            <a:ext cx="274320" cy="274320"/>
          </a:xfrm>
          <a:prstGeom prst="rect">
            <a:avLst/>
          </a:prstGeom>
          <a:solidFill>
            <a:srgbClr val="162234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2395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</a:rPr>
              <a:t>AI 점수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63270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최종 선택 후보 AI 점수 ≥ 60점 확인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971031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→ 60점 미만이면 근거 세부 확인 후 재설계 검토</a:t>
            </a:r>
          </a:p>
        </p:txBody>
      </p:sp>
      <p:sp>
        <p:nvSpPr>
          <p:cNvPr id="30" name="Smiley Face 29"/>
          <p:cNvSpPr/>
          <p:nvPr/>
        </p:nvSpPr>
        <p:spPr>
          <a:xfrm>
            <a:off x="6309359" y="1234440"/>
            <a:ext cx="5760720" cy="11887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59" y="1234440"/>
            <a:ext cx="54864" cy="118872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1371600"/>
            <a:ext cx="274320" cy="274320"/>
          </a:xfrm>
          <a:prstGeom prst="rect">
            <a:avLst/>
          </a:prstGeom>
          <a:solidFill>
            <a:srgbClr val="162234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3720" y="13441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84FC"/>
                </a:solidFill>
              </a:rPr>
              <a:t>이합체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17373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3'-end 이합체 Δ G &gt; -6 kcal/mol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07568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→ 이합체가 안정적이면 실제 PCR에서 artifact 발생</a:t>
            </a:r>
          </a:p>
        </p:txBody>
      </p:sp>
      <p:sp>
        <p:nvSpPr>
          <p:cNvPr id="36" name="Smiley Face 35"/>
          <p:cNvSpPr/>
          <p:nvPr/>
        </p:nvSpPr>
        <p:spPr>
          <a:xfrm>
            <a:off x="6309359" y="2532888"/>
            <a:ext cx="5760720" cy="11887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59" y="2532888"/>
            <a:ext cx="54864" cy="1188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92240" y="2670048"/>
            <a:ext cx="274320" cy="274320"/>
          </a:xfrm>
          <a:prstGeom prst="rect">
            <a:avLst/>
          </a:prstGeom>
          <a:solidFill>
            <a:srgbClr val="162234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03720" y="2642615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923C"/>
                </a:solidFill>
              </a:rPr>
              <a:t>제품 크기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30358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qPCR: 80–200 bp, PCR: 목적에 맞는 크기 확인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337413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→ 크기가 너무 크면 qPCR 효율 급락</a:t>
            </a:r>
          </a:p>
        </p:txBody>
      </p:sp>
      <p:sp>
        <p:nvSpPr>
          <p:cNvPr id="42" name="Smiley Face 41"/>
          <p:cNvSpPr/>
          <p:nvPr/>
        </p:nvSpPr>
        <p:spPr>
          <a:xfrm>
            <a:off x="6309359" y="3831335"/>
            <a:ext cx="5760720" cy="11887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59" y="3831335"/>
            <a:ext cx="54864" cy="11887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92240" y="3968496"/>
            <a:ext cx="274320" cy="274320"/>
          </a:xfrm>
          <a:prstGeom prst="rect">
            <a:avLst/>
          </a:prstGeom>
          <a:solidFill>
            <a:srgbClr val="162234"/>
          </a:solidFill>
          <a:ln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03720" y="3941063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서열 중복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43342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동일 서열 후보 여러 개 발주 않도록 확인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672583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→ 이웃한 후보는 서열이 거의 동일할 수 있음</a:t>
            </a:r>
          </a:p>
        </p:txBody>
      </p:sp>
      <p:sp>
        <p:nvSpPr>
          <p:cNvPr id="48" name="Smiley Face 47"/>
          <p:cNvSpPr/>
          <p:nvPr/>
        </p:nvSpPr>
        <p:spPr>
          <a:xfrm>
            <a:off x="6309359" y="5129783"/>
            <a:ext cx="5760720" cy="11887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09359" y="5129783"/>
            <a:ext cx="54864" cy="1188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92240" y="5266944"/>
            <a:ext cx="274320" cy="274320"/>
          </a:xfrm>
          <a:prstGeom prst="rect">
            <a:avLst/>
          </a:prstGeom>
          <a:solidFill>
            <a:srgbClr val="162234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03720" y="52395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</a:rPr>
              <a:t>보고서 저장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563270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PDF 또는 HTML 보고서 ELN에 첨부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5971031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→ 실험 재현성 및 규제 문서화 요건 대응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280160" cy="6400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</a:rPr>
              <a:t>FAQ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389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시약 연구원이 자주 묻는 질문</a:t>
            </a:r>
          </a:p>
        </p:txBody>
      </p:sp>
      <p:sp>
        <p:nvSpPr>
          <p:cNvPr id="6" name="Smiley Face 5"/>
          <p:cNvSpPr/>
          <p:nvPr/>
        </p:nvSpPr>
        <p:spPr>
          <a:xfrm>
            <a:off x="274320" y="1234440"/>
            <a:ext cx="5760720" cy="16459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76072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60A5FA"/>
                </a:solidFill>
              </a:rPr>
              <a:t>Q. FASTA 서열이 적으면 결과를 믿을 수 있나요?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10512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서열 10개 미만이면 커버리지 통계가 부정확합니다. 가능하면 20개 이상, 대표 변이주를 포함한 서열을 사용하세요.</a:t>
            </a:r>
          </a:p>
        </p:txBody>
      </p:sp>
      <p:sp>
        <p:nvSpPr>
          <p:cNvPr id="10" name="Smiley Face 9"/>
          <p:cNvSpPr/>
          <p:nvPr/>
        </p:nvSpPr>
        <p:spPr>
          <a:xfrm>
            <a:off x="274320" y="2990088"/>
            <a:ext cx="5760720" cy="16459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990088"/>
            <a:ext cx="5760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81528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0B981"/>
                </a:solidFill>
              </a:rPr>
              <a:t>Q. AI 점수 70점인 후보를 발주해도 될까요?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6616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AI 점수 단독 판단은 금물입니다. 커버리지·Tm·최종 점수를 함께 확인하세요. 70점이라도 커버리지 95%·Tm 균형이면 우수한 후보입니다.</a:t>
            </a:r>
          </a:p>
        </p:txBody>
      </p:sp>
      <p:sp>
        <p:nvSpPr>
          <p:cNvPr id="14" name="Smiley Face 13"/>
          <p:cNvSpPr/>
          <p:nvPr/>
        </p:nvSpPr>
        <p:spPr>
          <a:xfrm>
            <a:off x="274320" y="4745736"/>
            <a:ext cx="5760720" cy="16459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4745736"/>
            <a:ext cx="57607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837176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BBF24"/>
                </a:solidFill>
              </a:rPr>
              <a:t>Q. 커버리지가 60%밖에 안 나옵니다.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2180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① Max Mismatches를 3으로 완화  ② 보존 영역 임계값 낮추기  ③ 타겟 서열이 너무 다양하면 multiplex 설계로 전환을 고려하세요.</a:t>
            </a:r>
          </a:p>
        </p:txBody>
      </p:sp>
      <p:sp>
        <p:nvSpPr>
          <p:cNvPr id="18" name="Smiley Face 17"/>
          <p:cNvSpPr/>
          <p:nvPr/>
        </p:nvSpPr>
        <p:spPr>
          <a:xfrm>
            <a:off x="6309359" y="1234440"/>
            <a:ext cx="5760720" cy="16459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1234440"/>
            <a:ext cx="5760720" cy="5486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325880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B923C"/>
                </a:solidFill>
              </a:rPr>
              <a:t>Q. Tm이 65°C를 넘는 후보만 나옵니다.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810512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Advanced Options에서 Primer Tm 최대값을 조정하거나, 보존 영역을 GC 함량이 낮은 부위로 좁혀보세요.</a:t>
            </a:r>
          </a:p>
        </p:txBody>
      </p:sp>
      <p:sp>
        <p:nvSpPr>
          <p:cNvPr id="22" name="Smiley Face 21"/>
          <p:cNvSpPr/>
          <p:nvPr/>
        </p:nvSpPr>
        <p:spPr>
          <a:xfrm>
            <a:off x="6309359" y="2990088"/>
            <a:ext cx="5760720" cy="16459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59" y="2990088"/>
            <a:ext cx="5760720" cy="5486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081528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84FC"/>
                </a:solidFill>
              </a:rPr>
              <a:t>Q. Multiplex용 프로브 서열은 어디서 확인하나요?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56616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결과 목록의 'Probe' 컬럼 또는 HTML 보고서 서열 섹션에서 확인합니다. 어세이 타입을 Multiplex qPCR로 선택해야 생성됩니다.</a:t>
            </a:r>
          </a:p>
        </p:txBody>
      </p:sp>
      <p:sp>
        <p:nvSpPr>
          <p:cNvPr id="26" name="Smiley Face 25"/>
          <p:cNvSpPr/>
          <p:nvPr/>
        </p:nvSpPr>
        <p:spPr>
          <a:xfrm>
            <a:off x="6309359" y="4745736"/>
            <a:ext cx="5760720" cy="16459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59" y="4745736"/>
            <a:ext cx="5760720" cy="54864"/>
          </a:xfrm>
          <a:prstGeom prst="rect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837176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4727E"/>
                </a:solidFill>
              </a:rPr>
              <a:t>Q. 결과 보고서를 동료에게 공유하려면?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32180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보고서 화면에서 PDF 다운로드 버튼을 누르거나, HTML 파일을 그대로 이메일로 전달하면 수신자도 동일하게 확인 가능합니다.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