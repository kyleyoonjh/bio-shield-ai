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74" r:id="rId25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igngene.vercel.app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signgene.vercel.app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42f2e"/>
              </a:gs>
              <a:gs pos="50000">
                <a:srgbClr val="164e63"/>
              </a:gs>
              <a:gs pos="100000">
                <a:srgbClr val="0f172a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0" y="1371600"/>
            <a:ext cx="8229600" cy="457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6000" b="1">
                <a:solidFill>
                  <a:srgbClr val="16233C"/>
                </a:solidFill>
                <a:latin typeface="Malgun Gothic"/>
              </a:rPr>
              <a:t>e-Sign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411480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6B6D4"/>
                </a:solidFill>
                <a:latin typeface="Malgun Gothic"/>
              </a:rPr>
              <a:t>SEEGENE  /  WORKSPACE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188720"/>
            <a:ext cx="8229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5800" b="1">
                <a:solidFill>
                  <a:srgbClr val="FFFFFF"/>
                </a:solidFill>
                <a:latin typeface="Malgun Gothic"/>
              </a:rPr>
              <a:t>전자서명 시스템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514600"/>
            <a:ext cx="8229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0">
                <a:solidFill>
                  <a:srgbClr val="94A3B8"/>
                </a:solidFill>
                <a:latin typeface="Malgun Gothic"/>
              </a:rPr>
              <a:t>사용자 메뉴얼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3566160"/>
            <a:ext cx="32004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3794760"/>
            <a:ext cx="5394960" cy="658368"/>
          </a:xfrm>
          <a:prstGeom prst="rect">
            <a:avLst/>
          </a:prstGeom>
          <a:solidFill>
            <a:srgbClr val="16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3794760"/>
            <a:ext cx="54864" cy="6583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794760"/>
            <a:ext cx="5943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Malgun Gothic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794760"/>
            <a:ext cx="43891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Malgun Gothic"/>
              </a:rPr>
              <a:t>로그인 / 회원가입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3794760"/>
            <a:ext cx="5394960" cy="658368"/>
          </a:xfrm>
          <a:prstGeom prst="rect">
            <a:avLst/>
          </a:prstGeom>
          <a:solidFill>
            <a:srgbClr val="16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3794760"/>
            <a:ext cx="54864" cy="6583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3794760"/>
            <a:ext cx="5943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Malgun Gothic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794760"/>
            <a:ext cx="43891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Malgun Gothic"/>
              </a:rPr>
              <a:t>전자 서명 대시보드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572000"/>
            <a:ext cx="5394960" cy="658368"/>
          </a:xfrm>
          <a:prstGeom prst="rect">
            <a:avLst/>
          </a:prstGeom>
          <a:solidFill>
            <a:srgbClr val="16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4572000"/>
            <a:ext cx="54864" cy="6583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572000"/>
            <a:ext cx="5943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Malgun Gothic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572000"/>
            <a:ext cx="43891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Malgun Gothic"/>
              </a:rPr>
              <a:t>새 전자 서명 만들기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0760" y="4572000"/>
            <a:ext cx="5394960" cy="658368"/>
          </a:xfrm>
          <a:prstGeom prst="rect">
            <a:avLst/>
          </a:prstGeom>
          <a:solidFill>
            <a:srgbClr val="16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80760" y="4572000"/>
            <a:ext cx="54864" cy="6583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4572000"/>
            <a:ext cx="5943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Malgun Gothic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4572000"/>
            <a:ext cx="43891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Malgun Gothic"/>
              </a:rPr>
              <a:t>문서 상세 보기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5349240"/>
            <a:ext cx="5394960" cy="658368"/>
          </a:xfrm>
          <a:prstGeom prst="rect">
            <a:avLst/>
          </a:prstGeom>
          <a:solidFill>
            <a:srgbClr val="16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" y="5349240"/>
            <a:ext cx="54864" cy="6583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5349240"/>
            <a:ext cx="5943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Malgun Gothic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349240"/>
            <a:ext cx="43891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Malgun Gothic"/>
              </a:rPr>
              <a:t>서명 입력하기, PDF 다운로드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6263640"/>
            <a:ext cx="5303520" cy="502920"/>
          </a:xfrm>
          <a:prstGeom prst="rect">
            <a:avLst/>
          </a:prstGeom>
          <a:solidFill>
            <a:srgbClr val="16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1480" y="6263640"/>
            <a:ext cx="54864" cy="5029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263640"/>
            <a:ext cx="1645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06B6D4"/>
                </a:solidFill>
                <a:latin typeface="Malgun Gothic"/>
              </a:rPr>
              <a:t>🔗  접속 URL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94560" y="6263640"/>
            <a:ext cx="33832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 u="none">
                <a:solidFill>
                  <a:srgbClr val="FFFFFF"/>
                </a:solidFill>
                <a:latin typeface="Malgun Gothic"/>
                <a:hlinkClick r:id="rId2"/>
              </a:rPr>
              <a:t>signgene.vercel.app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6492240"/>
            <a:ext cx="6217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334155"/>
                </a:solidFill>
                <a:latin typeface="Malgun Gothic"/>
              </a:rPr>
              <a:t>2026  |  Seegene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42f2e"/>
              </a:gs>
              <a:gs pos="50000">
                <a:srgbClr val="164e63"/>
              </a:gs>
              <a:gs pos="100000">
                <a:srgbClr val="0f172a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0" y="457200"/>
            <a:ext cx="411480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0" b="1">
                <a:solidFill>
                  <a:srgbClr val="1E293B"/>
                </a:solidFill>
                <a:latin typeface="Malgun Gothic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011680"/>
            <a:ext cx="320040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200" b="1">
                <a:solidFill>
                  <a:srgbClr val="2563EB"/>
                </a:solidFill>
                <a:latin typeface="Malgun Gothic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383280"/>
            <a:ext cx="86868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Malgun Gothic"/>
              </a:rPr>
              <a:t>로그인 / 회원가입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434840"/>
            <a:ext cx="8686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Malgun Gothic"/>
              </a:rPr>
              <a:t>시스템 접속 및 계정 생성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6032" y="182880"/>
            <a:ext cx="566928" cy="5669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182880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4592"/>
            <a:ext cx="1097280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로그인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658368"/>
            <a:ext cx="10972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algun Gothic"/>
              </a:rPr>
              <a:t>signgene.vercel.app 접속 후 사내 ID와 비밀번호로 로그인합니다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097280"/>
            <a:ext cx="51206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" y="1207007"/>
            <a:ext cx="658368" cy="7406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1207007"/>
            <a:ext cx="658368" cy="740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2728" y="1207007"/>
            <a:ext cx="4041648" cy="740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Malgun Gothic"/>
              </a:rPr>
              <a:t>브라우저에서 signgene.vercel.app 에 접속합니다.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194560"/>
            <a:ext cx="51206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" y="2304288"/>
            <a:ext cx="658368" cy="7406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" y="2304288"/>
            <a:ext cx="658368" cy="740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52728" y="2304288"/>
            <a:ext cx="4041648" cy="740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Malgun Gothic"/>
              </a:rPr>
              <a:t>Company ID 입력
(사내 ID → @seegene.com 자동 적용)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291839"/>
            <a:ext cx="51206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" y="3401568"/>
            <a:ext cx="658368" cy="7406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" y="3401568"/>
            <a:ext cx="658368" cy="740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2728" y="3401568"/>
            <a:ext cx="4041648" cy="740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Malgun Gothic"/>
              </a:rPr>
              <a:t>Password 입력 후 Sign in 클릭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389120"/>
            <a:ext cx="51206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" y="4498848"/>
            <a:ext cx="658368" cy="7406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" y="4498848"/>
            <a:ext cx="658368" cy="740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52728" y="4498848"/>
            <a:ext cx="4041648" cy="740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Malgun Gothic"/>
              </a:rPr>
              <a:t>대시보드로 자동 이동합니다.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5623560"/>
            <a:ext cx="5120640" cy="868680"/>
          </a:xfrm>
          <a:prstGeom prst="rect">
            <a:avLst/>
          </a:prstGeom>
          <a:solidFill>
            <a:srgbClr val="EFF6FF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562356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687568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Malgun Gothic"/>
              </a:rPr>
              <a:t>계정이 없다면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961888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Malgun Gothic"/>
              </a:rPr>
              <a:t>하단 'New here? Register please!' 를 클릭해 회원가입 페이지로 이동하세요.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0" y="1051560"/>
            <a:ext cx="621792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69280" y="1051560"/>
            <a:ext cx="6217920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806440" y="1133856"/>
            <a:ext cx="164592" cy="164592"/>
          </a:xfrm>
          <a:prstGeom prst="rect">
            <a:avLst/>
          </a:prstGeom>
          <a:solidFill>
            <a:srgbClr val="FC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53328" y="1133856"/>
            <a:ext cx="164592" cy="164592"/>
          </a:xfrm>
          <a:prstGeom prst="rect">
            <a:avLst/>
          </a:prstGeom>
          <a:solidFill>
            <a:srgbClr val="FD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00216" y="1133856"/>
            <a:ext cx="164592" cy="164592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1088136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Malgun Gothic"/>
              </a:rPr>
              <a:t>signgene.vercel.app</a:t>
            </a:r>
          </a:p>
        </p:txBody>
      </p:sp>
      <p:pic>
        <p:nvPicPr>
          <p:cNvPr id="35" name="Picture 34" descr="01-sign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417320"/>
            <a:ext cx="6035040" cy="2977286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5669280" y="4709159"/>
            <a:ext cx="6217920" cy="685800"/>
          </a:xfrm>
          <a:prstGeom prst="rect">
            <a:avLst/>
          </a:prstGeom>
          <a:solidFill>
            <a:srgbClr val="EFF6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69280" y="4709159"/>
            <a:ext cx="54864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52160" y="4727447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Malgun Gothic"/>
              </a:rPr>
              <a:t>접속 주소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52160" y="4965192"/>
            <a:ext cx="594360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 u="sng">
                <a:solidFill>
                  <a:srgbClr val="2563EB"/>
                </a:solidFill>
                <a:latin typeface="Malgun Gothic"/>
                <a:hlinkClick r:id="rId3"/>
              </a:rPr>
              <a:t>signgene.vercel.app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6032" y="182880"/>
            <a:ext cx="566928" cy="5669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182880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4592"/>
            <a:ext cx="1097280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회원가입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658368"/>
            <a:ext cx="10972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algun Gothic"/>
              </a:rPr>
              <a:t>'New here? Register please!' 클릭 후 정보를 입력하고 가입합니다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143000"/>
            <a:ext cx="1417320" cy="6583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143000"/>
            <a:ext cx="14173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이름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83080" y="1143000"/>
            <a:ext cx="3977639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0240" y="1143000"/>
            <a:ext cx="3749039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Malgun Gothic"/>
              </a:rPr>
              <a:t>본명을 입력합니다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020824"/>
            <a:ext cx="1417320" cy="6583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2020824"/>
            <a:ext cx="14173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사내 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83080" y="2020824"/>
            <a:ext cx="3977639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20240" y="2020824"/>
            <a:ext cx="3749039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Malgun Gothic"/>
              </a:rPr>
              <a:t>이메일 앞부분  (예: hong.gildong)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898648"/>
            <a:ext cx="1417320" cy="6583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2898648"/>
            <a:ext cx="14173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부서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83080" y="2898648"/>
            <a:ext cx="3977639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20240" y="2898648"/>
            <a:ext cx="3749039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Malgun Gothic"/>
              </a:rPr>
              <a:t>소속 부서명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776472"/>
            <a:ext cx="1417320" cy="6583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3776472"/>
            <a:ext cx="14173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직책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83080" y="3776472"/>
            <a:ext cx="3977639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20240" y="3776472"/>
            <a:ext cx="3749039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Malgun Gothic"/>
              </a:rPr>
              <a:t>본인 직책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654296"/>
            <a:ext cx="1417320" cy="6583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4654296"/>
            <a:ext cx="14173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비밀번호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783080" y="4654296"/>
            <a:ext cx="3977639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20240" y="4654296"/>
            <a:ext cx="3749039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Malgun Gothic"/>
              </a:rPr>
              <a:t>8자 이상, 영문 + 숫자 포함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5623560"/>
            <a:ext cx="5440680" cy="822960"/>
          </a:xfrm>
          <a:prstGeom prst="rect">
            <a:avLst/>
          </a:prstGeom>
          <a:solidFill>
            <a:srgbClr val="F0FDF4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5623560"/>
            <a:ext cx="54864" cy="8229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623560"/>
            <a:ext cx="51663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6A34A"/>
                </a:solidFill>
                <a:latin typeface="Malgun Gothic"/>
              </a:rPr>
              <a:t>✓  가입하기 클릭 시 자동으로 로그인되어 대시보드로 이동합니다.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1051560"/>
            <a:ext cx="5852160" cy="5440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35040" y="1051560"/>
            <a:ext cx="5852160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72200" y="1133856"/>
            <a:ext cx="164592" cy="164592"/>
          </a:xfrm>
          <a:prstGeom prst="rect">
            <a:avLst/>
          </a:prstGeom>
          <a:solidFill>
            <a:srgbClr val="FC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19088" y="1133856"/>
            <a:ext cx="164592" cy="164592"/>
          </a:xfrm>
          <a:prstGeom prst="rect">
            <a:avLst/>
          </a:prstGeom>
          <a:solidFill>
            <a:srgbClr val="FD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665976" y="1133856"/>
            <a:ext cx="164592" cy="164592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0" y="1088136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Malgun Gothic"/>
              </a:rPr>
              <a:t>signgene.vercel.app</a:t>
            </a:r>
          </a:p>
        </p:txBody>
      </p:sp>
      <p:pic>
        <p:nvPicPr>
          <p:cNvPr id="38" name="Picture 37" descr="03-sign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417320"/>
            <a:ext cx="3657600" cy="50718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42f2e"/>
              </a:gs>
              <a:gs pos="50000">
                <a:srgbClr val="164e63"/>
              </a:gs>
              <a:gs pos="100000">
                <a:srgbClr val="0f172a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0" y="457200"/>
            <a:ext cx="411480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0" b="1">
                <a:solidFill>
                  <a:srgbClr val="1E293B"/>
                </a:solidFill>
                <a:latin typeface="Malgun Gothic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011680"/>
            <a:ext cx="320040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200" b="1">
                <a:solidFill>
                  <a:srgbClr val="2563EB"/>
                </a:solidFill>
                <a:latin typeface="Malgun Gothic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383280"/>
            <a:ext cx="86868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Malgun Gothic"/>
              </a:rPr>
              <a:t>전자 서명 대시보드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434840"/>
            <a:ext cx="8686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Malgun Gothic"/>
              </a:rPr>
              <a:t>서명 프로젝트 목록 조회 및 탐색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164592"/>
            <a:ext cx="1097280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전자 서명 대시보드 — 모든 서명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658368"/>
            <a:ext cx="10972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algun Gothic"/>
              </a:rPr>
              <a:t>로그인 후 전체 서명 프로젝트 목록이 표시됩니다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4" y="1014983"/>
            <a:ext cx="7662672" cy="55138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51560"/>
            <a:ext cx="7589520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4-home-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" y="1069848"/>
            <a:ext cx="7552944" cy="540410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138160" y="1051560"/>
            <a:ext cx="1463040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051560"/>
            <a:ext cx="1463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제목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46920" y="1051560"/>
            <a:ext cx="23774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38360" y="1051560"/>
            <a:ext cx="2212848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Malgun Gothic"/>
              </a:rPr>
              <a:t>서명 프로젝트 이름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956815"/>
            <a:ext cx="1463040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1956815"/>
            <a:ext cx="1463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PDF 파일명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46920" y="1956815"/>
            <a:ext cx="23774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38360" y="1956815"/>
            <a:ext cx="2212848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Malgun Gothic"/>
              </a:rPr>
              <a:t>원본 파일 이름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2862072"/>
            <a:ext cx="1463040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2862072"/>
            <a:ext cx="1463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서명자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46920" y="2862072"/>
            <a:ext cx="23774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38360" y="2862072"/>
            <a:ext cx="2212848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Malgun Gothic"/>
              </a:rPr>
              <a:t>서명 필요 인원 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3767327"/>
            <a:ext cx="1463040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0" y="3767327"/>
            <a:ext cx="1463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최종 서명일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46920" y="3767327"/>
            <a:ext cx="23774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38360" y="3767327"/>
            <a:ext cx="2212848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Malgun Gothic"/>
              </a:rPr>
              <a:t>완료 목표일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60" y="4672583"/>
            <a:ext cx="1463040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0" y="4672583"/>
            <a:ext cx="1463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상태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46920" y="4672583"/>
            <a:ext cx="23774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38360" y="4672583"/>
            <a:ext cx="2212848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Malgun Gothic"/>
              </a:rPr>
              <a:t>진행 중  /  완료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38160" y="5577840"/>
            <a:ext cx="1463040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38160" y="5577840"/>
            <a:ext cx="1463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PDF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46920" y="5577840"/>
            <a:ext cx="23774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38360" y="5577840"/>
            <a:ext cx="2212848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Malgun Gothic"/>
              </a:rPr>
              <a:t>완료 시 Download 활성화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6400800"/>
            <a:ext cx="11521440" cy="347472"/>
          </a:xfrm>
          <a:prstGeom prst="rect">
            <a:avLst/>
          </a:prstGeom>
          <a:solidFill>
            <a:srgbClr val="EFF6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400800"/>
            <a:ext cx="112471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563EB"/>
                </a:solidFill>
                <a:latin typeface="Malgun Gothic"/>
              </a:rPr>
              <a:t>▸  검색창에서 제목 · PDF · 작성자 · 서명자 키워드로 검색 가능합니다.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164592"/>
            <a:ext cx="1097280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전자 서명 대시보드 — 나의 서명 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658368"/>
            <a:ext cx="10972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algun Gothic"/>
              </a:rPr>
              <a:t>내가 작성자이거나 서명자로 지정된 프로젝트만 표시됩니다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4" y="1014983"/>
            <a:ext cx="7662672" cy="55138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51560"/>
            <a:ext cx="7589520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5-home-my-t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" y="1069848"/>
            <a:ext cx="7552944" cy="540410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138160" y="1051560"/>
            <a:ext cx="3749039" cy="2286000"/>
          </a:xfrm>
          <a:prstGeom prst="rect">
            <a:avLst/>
          </a:prstGeom>
          <a:solidFill>
            <a:srgbClr val="EFF6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38160" y="1051560"/>
            <a:ext cx="54864" cy="228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143000"/>
            <a:ext cx="34747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Malgun Gothic"/>
              </a:rPr>
              <a:t>나의 서명 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490472"/>
            <a:ext cx="347472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Malgun Gothic"/>
              </a:rPr>
              <a:t>내가 작성자이거나
서명자로 지정된 프로젝트만 표시됩니다.
서명 요청을 받은 경우 이 탭에서 빠르게 확인하세요.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3520440"/>
            <a:ext cx="3749039" cy="1371600"/>
          </a:xfrm>
          <a:prstGeom prst="rect">
            <a:avLst/>
          </a:prstGeom>
          <a:solidFill>
            <a:srgbClr val="FFFBEB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3520440"/>
            <a:ext cx="54864" cy="13716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3611880"/>
            <a:ext cx="34747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Malgun Gothic"/>
              </a:rPr>
              <a:t>모든 서명 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959352"/>
            <a:ext cx="34747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Malgun Gothic"/>
              </a:rPr>
              <a:t>시스템에 등록된 전체 서명 프로젝트를 모두 표시합니다.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5074920"/>
            <a:ext cx="3749039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5074920"/>
            <a:ext cx="54864" cy="14173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5138928"/>
            <a:ext cx="3429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75569"/>
                </a:solidFill>
                <a:latin typeface="Malgun Gothic"/>
              </a:rPr>
              <a:t>표시할 프로젝트가 없습니다.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5550408"/>
            <a:ext cx="3429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Malgun Gothic"/>
              </a:rPr>
              <a:t>서명자로 등록된 프로젝트가 없거나
담당자가 아직 등록하지 않은 경우입니다.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42f2e"/>
              </a:gs>
              <a:gs pos="50000">
                <a:srgbClr val="164e63"/>
              </a:gs>
              <a:gs pos="100000">
                <a:srgbClr val="0f172a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0" y="457200"/>
            <a:ext cx="411480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0" b="1">
                <a:solidFill>
                  <a:srgbClr val="1E293B"/>
                </a:solidFill>
                <a:latin typeface="Malgun Gothic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011680"/>
            <a:ext cx="320040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200" b="1">
                <a:solidFill>
                  <a:srgbClr val="2563EB"/>
                </a:solidFill>
                <a:latin typeface="Malgun Gothic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383280"/>
            <a:ext cx="86868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Malgun Gothic"/>
              </a:rPr>
              <a:t>새 전자 서명 만들기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434840"/>
            <a:ext cx="8686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Malgun Gothic"/>
              </a:rPr>
              <a:t>서명 프로젝트 생성 및 서명자 등록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164592"/>
            <a:ext cx="1097280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새 전자 서명 만들기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658368"/>
            <a:ext cx="10972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algun Gothic"/>
              </a:rPr>
              <a:t>대시보드 우측 상단 '새 전자 서명 만들기' 버튼을 클릭합니다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4" y="1014983"/>
            <a:ext cx="7205472" cy="55138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51560"/>
            <a:ext cx="7132320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6-create-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" y="1069848"/>
            <a:ext cx="7095744" cy="540410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635240" y="1051560"/>
            <a:ext cx="42519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44967" y="1161288"/>
            <a:ext cx="658368" cy="7863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44967" y="1161288"/>
            <a:ext cx="658368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algun Gothic"/>
              </a:rPr>
              <a:t>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67928" y="1161288"/>
            <a:ext cx="3172968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Malgun Gothic"/>
              </a:rPr>
              <a:t>프로젝트 제목 입력
(선택, 공백 시 PDF 파일명 사용)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35240" y="2185415"/>
            <a:ext cx="42519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44967" y="2295144"/>
            <a:ext cx="658368" cy="7863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4967" y="2295144"/>
            <a:ext cx="658368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algun Gothic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67928" y="2295144"/>
            <a:ext cx="3172968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Malgun Gothic"/>
              </a:rPr>
              <a:t>PDF 파일 선택
최대 2MB, DRM 해제 필요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3319272"/>
            <a:ext cx="42519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44967" y="3429000"/>
            <a:ext cx="658368" cy="7863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7" y="3429000"/>
            <a:ext cx="658368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algun Gothic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67928" y="3429000"/>
            <a:ext cx="3172968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Malgun Gothic"/>
              </a:rPr>
              <a:t>최종 서명 완료일 입력
YYYY.MM.DD 형식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35240" y="4453127"/>
            <a:ext cx="42519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44967" y="4562855"/>
            <a:ext cx="658368" cy="7863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44967" y="4562855"/>
            <a:ext cx="658368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algun Gothic"/>
              </a:rPr>
              <a:t>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67928" y="4562855"/>
            <a:ext cx="3172968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Malgun Gothic"/>
              </a:rPr>
              <a:t>서명자 추가
1~20명, 구성원 조회로 자동 입력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35240" y="5586983"/>
            <a:ext cx="42519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44967" y="5696712"/>
            <a:ext cx="658368" cy="78638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44967" y="5696712"/>
            <a:ext cx="658368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67928" y="5696712"/>
            <a:ext cx="3172968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Malgun Gothic"/>
              </a:rPr>
              <a:t>생성 버튼 → 저장 완료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164592"/>
            <a:ext cx="1097280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서명자 추가 방법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658368"/>
            <a:ext cx="10972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algun Gothic"/>
              </a:rPr>
              <a:t>이름, 로그인 ID, 이메일 중 하나를 입력한 뒤 구성원 조회를 클릭합니다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97280"/>
            <a:ext cx="115214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9768" y="1207007"/>
            <a:ext cx="658368" cy="64922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207007"/>
            <a:ext cx="658368" cy="6492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2728" y="1207007"/>
            <a:ext cx="10442447" cy="6492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Malgun Gothic"/>
              </a:rPr>
              <a:t>+ 서명자 추가 버튼을 클릭합니다.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103120"/>
            <a:ext cx="115214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" y="2212848"/>
            <a:ext cx="658368" cy="64922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2212848"/>
            <a:ext cx="658368" cy="6492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2728" y="2212848"/>
            <a:ext cx="10442447" cy="6492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Malgun Gothic"/>
              </a:rPr>
              <a:t>이름 또는 로그인 ID 또는 이메일 중 하나를 입력합니다.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108960"/>
            <a:ext cx="115214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" y="3218688"/>
            <a:ext cx="658368" cy="64922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" y="3218688"/>
            <a:ext cx="658368" cy="6492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52728" y="3218688"/>
            <a:ext cx="10442447" cy="6492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Malgun Gothic"/>
              </a:rPr>
              <a:t>'구성원 조회' 버튼 클릭 → 이름 · 이메일 · 부서 · 직급 자동 입력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114800"/>
            <a:ext cx="115214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9768" y="4224528"/>
            <a:ext cx="658368" cy="64922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" y="4224528"/>
            <a:ext cx="658368" cy="6492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52728" y="4224528"/>
            <a:ext cx="10442447" cy="6492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Malgun Gothic"/>
              </a:rPr>
              <a:t>서명자가 여러 명이면 추가를 반복합니다. (최대 20명)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5120640"/>
            <a:ext cx="115214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8" y="5230368"/>
            <a:ext cx="658368" cy="64922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" y="5230368"/>
            <a:ext cx="658368" cy="6492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52728" y="5230368"/>
            <a:ext cx="10442447" cy="6492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Malgun Gothic"/>
              </a:rPr>
              <a:t>모든 입력 완료 후 '생성' 버튼을 클릭합니다.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6172200"/>
            <a:ext cx="11521440" cy="566928"/>
          </a:xfrm>
          <a:prstGeom prst="rect">
            <a:avLst/>
          </a:prstGeom>
          <a:solidFill>
            <a:srgbClr val="F0FDF4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6172200"/>
            <a:ext cx="54864" cy="5669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6172200"/>
            <a:ext cx="112471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6A34A"/>
                </a:solidFill>
                <a:latin typeface="Malgun Gothic"/>
              </a:rPr>
              <a:t>✓  생성 완료 시 프로젝트가 저장되고 자동으로 상세 화면으로 이동합니다.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42f2e"/>
              </a:gs>
              <a:gs pos="50000">
                <a:srgbClr val="164e63"/>
              </a:gs>
              <a:gs pos="100000">
                <a:srgbClr val="0f172a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0" y="457200"/>
            <a:ext cx="411480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0" b="1">
                <a:solidFill>
                  <a:srgbClr val="1E293B"/>
                </a:solidFill>
                <a:latin typeface="Malgun Gothic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011680"/>
            <a:ext cx="320040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200" b="1">
                <a:solidFill>
                  <a:srgbClr val="2563EB"/>
                </a:solidFill>
                <a:latin typeface="Malgun Gothic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383280"/>
            <a:ext cx="86868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Malgun Gothic"/>
              </a:rPr>
              <a:t>문서 상세 보기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434840"/>
            <a:ext cx="8686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Malgun Gothic"/>
              </a:rPr>
              <a:t>서명 문서 내용 확인 및 서명자 현황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164592"/>
            <a:ext cx="1097280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서명 문서 상세 화면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658368"/>
            <a:ext cx="10972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algun Gothic"/>
              </a:rPr>
              <a:t>목록에서 행을 클릭하면 상세 화면으로 이동합니다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4" y="1014983"/>
            <a:ext cx="7571231" cy="55138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51560"/>
            <a:ext cx="7498079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7-project-detail-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" y="1069848"/>
            <a:ext cx="7461504" cy="540410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001000" y="1051560"/>
            <a:ext cx="3886200" cy="1417320"/>
          </a:xfrm>
          <a:prstGeom prst="rect">
            <a:avLst/>
          </a:prstGeom>
          <a:solidFill>
            <a:srgbClr val="EFF6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1000" y="1051560"/>
            <a:ext cx="54864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1143000"/>
            <a:ext cx="3611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Malgun Gothic"/>
              </a:rPr>
              <a:t>왼쪽 — 문서 미리보기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1490472"/>
            <a:ext cx="3611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Malgun Gothic"/>
              </a:rPr>
              <a:t>PDF 원본 내용 확인
축소 / 100% / 확대 버튼으로 크기 조정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01000" y="2606040"/>
            <a:ext cx="3886200" cy="14173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2606040"/>
            <a:ext cx="54864" cy="141732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79" y="2697480"/>
            <a:ext cx="3611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75569"/>
                </a:solidFill>
                <a:latin typeface="Malgun Gothic"/>
              </a:rPr>
              <a:t>오른쪽 — 프로젝트 정보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3044952"/>
            <a:ext cx="3611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Malgun Gothic"/>
              </a:rPr>
              <a:t>작성자 · PDF 파일명 · 원본 경로
프로젝트 제목 (수정 가능)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01000" y="4160520"/>
            <a:ext cx="3886200" cy="2331720"/>
          </a:xfrm>
          <a:prstGeom prst="rect">
            <a:avLst/>
          </a:prstGeom>
          <a:solidFill>
            <a:srgbClr val="FFFBEB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4160520"/>
            <a:ext cx="54864" cy="2331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79" y="4251959"/>
            <a:ext cx="3611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Malgun Gothic"/>
              </a:rPr>
              <a:t>서명자 목록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4599431"/>
            <a:ext cx="3611880" cy="1828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Malgun Gothic"/>
              </a:rPr>
              <a:t>이름 · 부서 · 직책 표시
완료 스위치: 완료(초록) / 대기(회색)
'자세한 정보' → 서명 설정 모달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42f2e"/>
              </a:gs>
              <a:gs pos="50000">
                <a:srgbClr val="164e63"/>
              </a:gs>
              <a:gs pos="100000">
                <a:srgbClr val="0f172a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0" y="457200"/>
            <a:ext cx="411480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0" b="1">
                <a:solidFill>
                  <a:srgbClr val="1E293B"/>
                </a:solidFill>
                <a:latin typeface="Malgun Gothic"/>
              </a:rP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011680"/>
            <a:ext cx="320040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200" b="1">
                <a:solidFill>
                  <a:srgbClr val="2563EB"/>
                </a:solidFill>
                <a:latin typeface="Malgun Gothic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383280"/>
            <a:ext cx="86868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Malgun Gothic"/>
              </a:rPr>
              <a:t>서명 입력하기, PDF 다운로드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434840"/>
            <a:ext cx="8686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Malgun Gothic"/>
              </a:rPr>
              <a:t>서명 설정 모달에서 서명을 입력합니다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164592"/>
            <a:ext cx="1097280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서명 입력하기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658368"/>
            <a:ext cx="10972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algun Gothic"/>
              </a:rPr>
              <a:t>서명자 목록의 '자세한 정보' 또는 상단 '서명 설정' 버튼을 클릭합니다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4" y="1014983"/>
            <a:ext cx="6519672" cy="55138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51560"/>
            <a:ext cx="6446520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9-pdf-editor-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" y="1069848"/>
            <a:ext cx="6409944" cy="540410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903720" y="1051560"/>
            <a:ext cx="498348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13448" y="1161288"/>
            <a:ext cx="658368" cy="14721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13448" y="1161288"/>
            <a:ext cx="658368" cy="1472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6408" y="1161288"/>
            <a:ext cx="3904488" cy="1472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Malgun Gothic"/>
              </a:rPr>
              <a:t>날짜 입력 버튼을 클릭한 뒤
PDF 미리보기 화면에서 원하는 위치를 클릭하면 날짜가 입력됩니다.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03720" y="2926079"/>
            <a:ext cx="498348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13448" y="3035808"/>
            <a:ext cx="658368" cy="14721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13448" y="3035808"/>
            <a:ext cx="658368" cy="1472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36408" y="3035808"/>
            <a:ext cx="3904488" cy="1472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Malgun Gothic"/>
              </a:rPr>
              <a:t>서명 입력 버튼을 클릭한 뒤
PDF 미리보기 화면에서 클릭하면 서명이 입력됩니다.
(서명은 자동 생성하거나 직접 마우스로 그릴 수 있습니다)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03720" y="4800600"/>
            <a:ext cx="498348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013448" y="4910328"/>
            <a:ext cx="658368" cy="147218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13448" y="4910328"/>
            <a:ext cx="658368" cy="1472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36408" y="4910328"/>
            <a:ext cx="3904488" cy="1472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Malgun Gothic"/>
              </a:rPr>
              <a:t>모든 서명자가 완료 처리하면
프로젝트 상태가 완료로 변경됩니다.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164592"/>
            <a:ext cx="1097280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서명된 PDF 다운로드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658368"/>
            <a:ext cx="10972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algun Gothic"/>
              </a:rPr>
              <a:t>서명 완료 후 Download 버튼이 활성화됩니다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4" y="1014983"/>
            <a:ext cx="7571231" cy="55138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51560"/>
            <a:ext cx="7498079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9-pdf-editor-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" y="1069848"/>
            <a:ext cx="7461504" cy="540410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001000" y="1051560"/>
            <a:ext cx="3886200" cy="1463040"/>
          </a:xfrm>
          <a:prstGeom prst="rect">
            <a:avLst/>
          </a:prstGeom>
          <a:solidFill>
            <a:srgbClr val="EFF6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1000" y="1051560"/>
            <a:ext cx="54864" cy="1463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1143000"/>
            <a:ext cx="3611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Malgun Gothic"/>
              </a:rPr>
              <a:t>다운로드 위치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1490472"/>
            <a:ext cx="361188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Malgun Gothic"/>
              </a:rPr>
              <a:t>목록 화면: PDF 열의 Download 버튼
상세 화면: 우측 상단 다운로드 버튼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01000" y="2651760"/>
            <a:ext cx="388620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2651760"/>
            <a:ext cx="54864" cy="260604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79" y="2715768"/>
            <a:ext cx="3566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75569"/>
                </a:solidFill>
                <a:latin typeface="Malgun Gothic"/>
              </a:rPr>
              <a:t>다운로드 PDF 포함 내용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79" y="3154680"/>
            <a:ext cx="292608" cy="2926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79" y="3154680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3154680"/>
            <a:ext cx="3246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Malgun Gothic"/>
              </a:rPr>
              <a:t>원본 PDF 내용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83879" y="3813048"/>
            <a:ext cx="292608" cy="2926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79" y="3813048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3813048"/>
            <a:ext cx="3246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Malgun Gothic"/>
              </a:rPr>
              <a:t>담당자가 배치한 날짜 · 서명 이미지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83879" y="4471416"/>
            <a:ext cx="292608" cy="2926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83879" y="4471416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9640" y="4471416"/>
            <a:ext cx="3246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Malgun Gothic"/>
              </a:rPr>
              <a:t>마지막 페이지 하단
서명자 확인 격자 (이름 · 이메일 · 서명)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01000" y="5376672"/>
            <a:ext cx="3886200" cy="1115568"/>
          </a:xfrm>
          <a:prstGeom prst="rect">
            <a:avLst/>
          </a:prstGeom>
          <a:solidFill>
            <a:srgbClr val="FFFBEB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01000" y="5376672"/>
            <a:ext cx="54864" cy="111556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83879" y="5431536"/>
            <a:ext cx="35661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D97706"/>
                </a:solidFill>
                <a:latin typeface="Malgun Gothic"/>
              </a:rPr>
              <a:t>⚠  주의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79" y="5779008"/>
            <a:ext cx="35661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Malgun Gothic"/>
              </a:rPr>
              <a:t>서명 추가 · 변경 후에는 반드시 다시 다운로드하세요.
이전 파일에는 최신 서명이 반영되지 않습니다.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164592"/>
            <a:ext cx="1097280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서명 입력 — 주의사항 &amp; 팁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1152144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9768" y="1207007"/>
            <a:ext cx="658368" cy="9692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207007"/>
            <a:ext cx="658368" cy="9692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algun Gothic"/>
              </a:rPr>
              <a:t>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2728" y="1207007"/>
            <a:ext cx="10442447" cy="9692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Malgun Gothic"/>
              </a:rPr>
              <a:t>한 번 저장된 서명은 다음 접속 시 자동으로 불러와집니다.
변경하려면 '지우기' 후 재입력하세요.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423160"/>
            <a:ext cx="1152144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" y="2532888"/>
            <a:ext cx="658368" cy="9692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2532888"/>
            <a:ext cx="658368" cy="9692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algun Gothic"/>
              </a:rPr>
              <a:t>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2728" y="2532888"/>
            <a:ext cx="10442447" cy="9692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Malgun Gothic"/>
              </a:rPr>
              <a:t>완료 처리를 실수로 했을 경우 스위치를 다시 클릭해 취소할 수 있습니다.
단, 프로젝트 전체가 완료 상태이면 담당자에게 문의하세요.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749039"/>
            <a:ext cx="1152144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" y="3858768"/>
            <a:ext cx="658368" cy="9692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" y="3858768"/>
            <a:ext cx="658368" cy="9692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algun Gothic"/>
              </a:rPr>
              <a:t>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52728" y="3858768"/>
            <a:ext cx="10442447" cy="9692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Malgun Gothic"/>
              </a:rPr>
              <a:t>서명 설정 버튼이 보이지 않으면 서명자로 등록되지 않은 경우입니다.
프로젝트 작성자에게 서명자 추가를 요청하세요.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5074920"/>
            <a:ext cx="1152144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" y="5184648"/>
            <a:ext cx="658368" cy="9692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" y="5184648"/>
            <a:ext cx="658368" cy="9692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52728" y="5184648"/>
            <a:ext cx="10442447" cy="9692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Malgun Gothic"/>
              </a:rPr>
              <a:t>완료 처리는 본인의 행에서만 가능합니다.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164592"/>
            <a:ext cx="1097280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자주 묻는 질문 (FAQ)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55778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51560"/>
            <a:ext cx="54864" cy="1691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161288"/>
            <a:ext cx="347472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61288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19" y="1161288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Malgun Gothic"/>
              </a:rPr>
              <a:t>서명 설정 버튼이 보이지 않아요.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645919"/>
            <a:ext cx="52120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Malgun Gothic"/>
              </a:rPr>
              <a:t>서명자로 등록되지 않은 경우입니다. 프로젝트 작성자에게 서명자 추가를 요청하세요.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051560"/>
            <a:ext cx="55778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051560"/>
            <a:ext cx="54864" cy="1691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46520" y="1161288"/>
            <a:ext cx="347472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161288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1161288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Malgun Gothic"/>
              </a:rPr>
              <a:t>서명을 잘못 입력했어요.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1645919"/>
            <a:ext cx="52120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Malgun Gothic"/>
              </a:rPr>
              <a:t>'지우기' 버튼으로 초기화 후 재입력하고 '적용'을 클릭하세요.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26079"/>
            <a:ext cx="55778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926079"/>
            <a:ext cx="54864" cy="1691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035808"/>
            <a:ext cx="347472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035808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Q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19" y="3035808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Malgun Gothic"/>
              </a:rPr>
              <a:t>PDF 업로드 오류가 납니다.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520439"/>
            <a:ext cx="52120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Malgun Gothic"/>
              </a:rPr>
              <a:t>최대 2MB, DRM 해제 필요. 파일을 압축하거나 담당자에게 문의하세요.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2926079"/>
            <a:ext cx="55778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2926079"/>
            <a:ext cx="54864" cy="1691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46520" y="3035808"/>
            <a:ext cx="347472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3035808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Q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3035808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Malgun Gothic"/>
              </a:rPr>
              <a:t>날짜 형식 오류가 납니다.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520439"/>
            <a:ext cx="52120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Malgun Gothic"/>
              </a:rPr>
              <a:t>날짜는 YYYY.MM.DD 형식으로 입력하세요. 예: 2026.05.19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800600"/>
            <a:ext cx="55778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4800600"/>
            <a:ext cx="54864" cy="1691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4910328"/>
            <a:ext cx="347472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4910328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Q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19" y="4910328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Malgun Gothic"/>
              </a:rPr>
              <a:t>나의 서명 탭에 문서가 없어요.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5394960"/>
            <a:ext cx="52120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Malgun Gothic"/>
              </a:rPr>
              <a:t>서명자로 미등록 또는 담당자가 아직 추가하지 않은 경우입니다.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4800600"/>
            <a:ext cx="55778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63640" y="4800600"/>
            <a:ext cx="54864" cy="1691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46520" y="4910328"/>
            <a:ext cx="347472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4910328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Q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3720" y="4910328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Malgun Gothic"/>
              </a:rPr>
              <a:t>서명자는 최대 몇 명인가요?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5394960"/>
            <a:ext cx="52120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Malgun Gothic"/>
              </a:rPr>
              <a:t>프로젝트당 최대 20명까지 추가할 수 있습니다.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0" name="rect"/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42f2e"/>
              </a:gs>
              <a:gs pos="50000">
                <a:srgbClr val="164e63"/>
              </a:gs>
              <a:gs pos="100000">
                <a:srgbClr val="0f172a"/>
              </a:gs>
            </a:gsLst>
            <a:lin ang="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0" name="rect"/>
          <p:cNvSpPr>
            <a:spLocks noGrp="1"/>
          </p:cNvSpPr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rect"/>
          <p:cNvSpPr>
            <a:spLocks noGrp="1"/>
          </p:cNvSpPr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rect"/>
          <p:cNvSpPr>
            <a:spLocks noGrp="1"/>
          </p:cNvSpPr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rect"/>
          <p:cNvSpPr>
            <a:spLocks noGrp="1"/>
          </p:cNvSpPr>
          <p:nvPr/>
        </p:nvSpPr>
        <p:spPr>
          <a:xfrm>
            <a:off x="256032" y="182880"/>
            <a:ext cx="566928" cy="5669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extBox 1"/>
          <p:cNvSpPr txBox="1"/>
          <p:nvPr/>
        </p:nvSpPr>
        <p:spPr>
          <a:xfrm>
            <a:off x="256032" y="182880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맑은 고딕"/>
              </a:rPr>
              <a:t>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64592"/>
            <a:ext cx="9200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맑은 고딕"/>
              </a:rPr>
              <a:t>전자서명 시스템  도입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658368"/>
            <a:ext cx="600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맑은 고딕"/>
              </a:rPr>
              <a:t>e-Sign  ·  Seegene</a:t>
            </a:r>
          </a:p>
        </p:txBody>
      </p:sp>
      <p:sp>
        <p:nvSpPr>
          <p:cNvPr id="0" name="rect"/>
          <p:cNvSpPr>
            <a:spLocks noGrp="1"/>
          </p:cNvSpPr>
          <p:nvPr/>
        </p:nvSpPr>
        <p:spPr>
          <a:xfrm>
            <a:off x="320040" y="1020000"/>
            <a:ext cx="11551615" cy="480000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rect"/>
          <p:cNvSpPr>
            <a:spLocks noGrp="1"/>
          </p:cNvSpPr>
          <p:nvPr/>
        </p:nvSpPr>
        <p:spPr>
          <a:xfrm>
            <a:off x="320040" y="1020000"/>
            <a:ext cx="55000" cy="480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30000" y="1080000"/>
            <a:ext cx="55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핵심 기능 모두 구현 완료  ·  즉시 도입 가능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00000" y="1080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맑은 고딕"/>
              </a:rPr>
              <a:t>→  http://signgene.vercep.app</a:t>
            </a:r>
          </a:p>
        </p:txBody>
      </p:sp>
      <p:sp>
        <p:nvSpPr>
          <p:cNvPr id="0" name="rect"/>
          <p:cNvSpPr>
            <a:spLocks noGrp="1"/>
          </p:cNvSpPr>
          <p:nvPr/>
        </p:nvSpPr>
        <p:spPr>
          <a:xfrm>
            <a:off x="320040" y="1580000"/>
            <a:ext cx="3743871" cy="4480000"/>
          </a:xfrm>
          <a:prstGeom prst="rect">
            <a:avLst/>
          </a:prstGeom>
          <a:solidFill>
            <a:srgbClr val="16233C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rect"/>
          <p:cNvSpPr>
            <a:spLocks noGrp="1"/>
          </p:cNvSpPr>
          <p:nvPr/>
        </p:nvSpPr>
        <p:spPr>
          <a:xfrm>
            <a:off x="320040" y="1580000"/>
            <a:ext cx="3743871" cy="1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80040" y="1610000"/>
            <a:ext cx="4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맑은 고딕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40" y="1620000"/>
            <a:ext cx="3283871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맑은 고딕"/>
              </a:rPr>
              <a:t>제안 사유</a:t>
            </a:r>
          </a:p>
        </p:txBody>
      </p:sp>
      <p:sp>
        <p:nvSpPr>
          <p:cNvPr id="0" name="rect"/>
          <p:cNvSpPr>
            <a:spLocks noGrp="1"/>
          </p:cNvSpPr>
          <p:nvPr/>
        </p:nvSpPr>
        <p:spPr>
          <a:xfrm>
            <a:off x="380040" y="1930000"/>
            <a:ext cx="3623871" cy="14000"/>
          </a:xfrm>
          <a:prstGeom prst="rect">
            <a:avLst/>
          </a:prstGeom>
          <a:solidFill>
            <a:srgbClr val="2D3F5E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80040" y="1980000"/>
            <a:ext cx="3623871" cy="40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6B6D4"/>
                </a:solidFill>
                <a:latin typeface="맑은 고딕"/>
              </a:rPr>
              <a:t>업무 효율 저하</a:t>
            </a:r>
            <a:r>
              <a:rPr sz="850" b="0">
                <a:solidFill>
                  <a:srgbClr val="94A3B8"/>
                </a:solidFill>
                <a:latin typeface="맑은 고딕"/>
              </a:rPr>
              <a:t>  하남↔잠실 서명 이동 반복. 연구원 1인당 왕복 수 시간 소비.</a:t>
            </a:r>
          </a:p>
          <a:p>
            <a:pPr>
              <a:spcBef>
                <a:spcPts val="600"/>
              </a:spcBef>
            </a:pPr>
            <a:r>
              <a:rPr sz="900" b="1">
                <a:solidFill>
                  <a:srgbClr val="06B6D4"/>
                </a:solidFill>
                <a:latin typeface="맑은 고딕"/>
              </a:rPr>
              <a:t>기밀 보안 리스크</a:t>
            </a:r>
            <a:r>
              <a:rPr sz="850" b="0">
                <a:solidFill>
                  <a:srgbClr val="94A3B8"/>
                </a:solidFill>
                <a:latin typeface="맑은 고딕"/>
              </a:rPr>
              <a:t>  DocuSign 등 외부 솔루션 사용 시 문서 전체가 외부 서버에 전송·저장.</a:t>
            </a:r>
          </a:p>
          <a:p>
            <a:pPr>
              <a:spcBef>
                <a:spcPts val="600"/>
              </a:spcBef>
            </a:pPr>
            <a:r>
              <a:rPr sz="900" b="1">
                <a:solidFill>
                  <a:srgbClr val="06B6D4"/>
                </a:solidFill>
                <a:latin typeface="맑은 고딕"/>
              </a:rPr>
              <a:t>유지보수 불편</a:t>
            </a:r>
            <a:r>
              <a:rPr sz="850" b="0">
                <a:solidFill>
                  <a:srgbClr val="94A3B8"/>
                </a:solidFill>
                <a:latin typeface="맑은 고딕"/>
              </a:rPr>
              <a:t>  서명 오류 시 재출력·재이동·재서명 반복 발생.</a:t>
            </a:r>
          </a:p>
        </p:txBody>
      </p:sp>
      <p:sp>
        <p:nvSpPr>
          <p:cNvPr id="0" name="rect"/>
          <p:cNvSpPr>
            <a:spLocks noGrp="1"/>
          </p:cNvSpPr>
          <p:nvPr/>
        </p:nvSpPr>
        <p:spPr>
          <a:xfrm>
            <a:off x="4223911" y="1580000"/>
            <a:ext cx="3743871" cy="4480000"/>
          </a:xfrm>
          <a:prstGeom prst="rect">
            <a:avLst/>
          </a:prstGeom>
          <a:solidFill>
            <a:srgbClr val="16233C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rect"/>
          <p:cNvSpPr>
            <a:spLocks noGrp="1"/>
          </p:cNvSpPr>
          <p:nvPr/>
        </p:nvSpPr>
        <p:spPr>
          <a:xfrm>
            <a:off x="4223911" y="1580000"/>
            <a:ext cx="3743871" cy="1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283911" y="1610000"/>
            <a:ext cx="4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맑은 고딕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3911" y="1620000"/>
            <a:ext cx="3283871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맑은 고딕"/>
              </a:rPr>
              <a:t>제안 내용</a:t>
            </a:r>
          </a:p>
        </p:txBody>
      </p:sp>
      <p:sp>
        <p:nvSpPr>
          <p:cNvPr id="0" name="rect"/>
          <p:cNvSpPr>
            <a:spLocks noGrp="1"/>
          </p:cNvSpPr>
          <p:nvPr/>
        </p:nvSpPr>
        <p:spPr>
          <a:xfrm>
            <a:off x="4283911" y="1930000"/>
            <a:ext cx="3623871" cy="14000"/>
          </a:xfrm>
          <a:prstGeom prst="rect">
            <a:avLst/>
          </a:prstGeom>
          <a:solidFill>
            <a:srgbClr val="2D3F5E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283911" y="1980000"/>
            <a:ext cx="3623871" cy="40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6B6D4"/>
                </a:solidFill>
                <a:latin typeface="맑은 고딕"/>
              </a:rPr>
              <a:t>서명 워크플로우</a:t>
            </a:r>
            <a:r>
              <a:rPr sz="850" b="0">
                <a:solidFill>
                  <a:srgbClr val="94A3B8"/>
                </a:solidFill>
                <a:latin typeface="맑은 고딕"/>
              </a:rPr>
              <a:t>  PDF 업로드 → 서명자 지정 → 온라인 서명 → 최종 PDF 자동 생성.</a:t>
            </a:r>
          </a:p>
          <a:p>
            <a:pPr>
              <a:spcBef>
                <a:spcPts val="600"/>
              </a:spcBef>
            </a:pPr>
            <a:r>
              <a:rPr sz="900" b="1">
                <a:solidFill>
                  <a:srgbClr val="06B6D4"/>
                </a:solidFill>
                <a:latin typeface="맑은 고딕"/>
              </a:rPr>
              <a:t>이메일 알림</a:t>
            </a:r>
            <a:r>
              <a:rPr sz="850" b="0">
                <a:solidFill>
                  <a:srgbClr val="94A3B8"/>
                </a:solidFill>
                <a:latin typeface="맑은 고딕"/>
              </a:rPr>
              <a:t>  마감일 도래 시 서명자에게 자동 알림 발송.</a:t>
            </a:r>
          </a:p>
          <a:p>
            <a:pPr>
              <a:spcBef>
                <a:spcPts val="600"/>
              </a:spcBef>
            </a:pPr>
            <a:r>
              <a:rPr sz="900" b="1">
                <a:solidFill>
                  <a:srgbClr val="06B6D4"/>
                </a:solidFill>
                <a:latin typeface="맑은 고딕"/>
              </a:rPr>
              <a:t>보안 설계</a:t>
            </a:r>
            <a:r>
              <a:rPr sz="850" b="0">
                <a:solidFill>
                  <a:srgbClr val="94A3B8"/>
                </a:solidFill>
                <a:latin typeface="맑은 고딕"/>
              </a:rPr>
              <a:t>  서명란 영역만 처리. 원본 문서 외부 노출 최소화.</a:t>
            </a:r>
          </a:p>
        </p:txBody>
      </p:sp>
      <p:sp>
        <p:nvSpPr>
          <p:cNvPr id="0" name="rect"/>
          <p:cNvSpPr>
            <a:spLocks noGrp="1"/>
          </p:cNvSpPr>
          <p:nvPr/>
        </p:nvSpPr>
        <p:spPr>
          <a:xfrm>
            <a:off x="8127782" y="1580000"/>
            <a:ext cx="3743871" cy="4480000"/>
          </a:xfrm>
          <a:prstGeom prst="rect">
            <a:avLst/>
          </a:prstGeom>
          <a:solidFill>
            <a:srgbClr val="16233C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rect"/>
          <p:cNvSpPr>
            <a:spLocks noGrp="1"/>
          </p:cNvSpPr>
          <p:nvPr/>
        </p:nvSpPr>
        <p:spPr>
          <a:xfrm>
            <a:off x="8127782" y="1580000"/>
            <a:ext cx="3743871" cy="1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187782" y="1610000"/>
            <a:ext cx="4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맑은 고딕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27782" y="1620000"/>
            <a:ext cx="3283871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맑은 고딕"/>
              </a:rPr>
              <a:t>기대 효과</a:t>
            </a:r>
          </a:p>
        </p:txBody>
      </p:sp>
      <p:sp>
        <p:nvSpPr>
          <p:cNvPr id="0" name="rect"/>
          <p:cNvSpPr>
            <a:spLocks noGrp="1"/>
          </p:cNvSpPr>
          <p:nvPr/>
        </p:nvSpPr>
        <p:spPr>
          <a:xfrm>
            <a:off x="8187782" y="1930000"/>
            <a:ext cx="3623871" cy="14000"/>
          </a:xfrm>
          <a:prstGeom prst="rect">
            <a:avLst/>
          </a:prstGeom>
          <a:solidFill>
            <a:srgbClr val="2D3F5E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187782" y="1980000"/>
            <a:ext cx="3623871" cy="40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6B6D4"/>
                </a:solidFill>
                <a:latin typeface="맑은 고딕"/>
              </a:rPr>
              <a:t>업무 시간 절감</a:t>
            </a:r>
            <a:r>
              <a:rPr sz="850" b="0">
                <a:solidFill>
                  <a:srgbClr val="94A3B8"/>
                </a:solidFill>
                <a:latin typeface="맑은 고딕"/>
              </a:rPr>
              <a:t>  서명 1건당 왕복 3~4시간 이동 시간 완전 제거.</a:t>
            </a:r>
          </a:p>
          <a:p>
            <a:pPr>
              <a:spcBef>
                <a:spcPts val="600"/>
              </a:spcBef>
            </a:pPr>
            <a:r>
              <a:rPr sz="900" b="1">
                <a:solidFill>
                  <a:srgbClr val="06B6D4"/>
                </a:solidFill>
                <a:latin typeface="맑은 고딕"/>
              </a:rPr>
              <a:t>연구 집중도 향상</a:t>
            </a:r>
            <a:r>
              <a:rPr sz="850" b="0">
                <a:solidFill>
                  <a:srgbClr val="94A3B8"/>
                </a:solidFill>
                <a:latin typeface="맑은 고딕"/>
              </a:rPr>
              <a:t>  이동 없이 서명 처리 → 연구 몰입 시간 증가.</a:t>
            </a:r>
          </a:p>
          <a:p>
            <a:pPr>
              <a:spcBef>
                <a:spcPts val="600"/>
              </a:spcBef>
            </a:pPr>
            <a:r>
              <a:rPr sz="900" b="1">
                <a:solidFill>
                  <a:srgbClr val="06B6D4"/>
                </a:solidFill>
                <a:latin typeface="맑은 고딕"/>
              </a:rPr>
              <a:t>전자 기록 DB화</a:t>
            </a:r>
            <a:r>
              <a:rPr sz="850" b="0">
                <a:solidFill>
                  <a:srgbClr val="94A3B8"/>
                </a:solidFill>
                <a:latin typeface="맑은 고딕"/>
              </a:rPr>
              <a:t>  서명 이력 자동 저장. 감사 추적(Audit Trail) 가능.</a:t>
            </a:r>
          </a:p>
          <a:p>
            <a:pPr>
              <a:spcBef>
                <a:spcPts val="600"/>
              </a:spcBef>
            </a:pPr>
            <a:r>
              <a:rPr sz="900" b="1">
                <a:solidFill>
                  <a:srgbClr val="06B6D4"/>
                </a:solidFill>
                <a:latin typeface="맑은 고딕"/>
              </a:rPr>
              <a:t>비용 절감</a:t>
            </a:r>
            <a:r>
              <a:rPr sz="850" b="0">
                <a:solidFill>
                  <a:srgbClr val="94A3B8"/>
                </a:solidFill>
                <a:latin typeface="맑은 고딕"/>
              </a:rPr>
              <a:t>  외부 솔루션 구독료 없이 자체 운영.</a:t>
            </a:r>
          </a:p>
        </p:txBody>
      </p:sp>
      <p:sp>
        <p:nvSpPr>
          <p:cNvPr id="0" name="rect"/>
          <p:cNvSpPr>
            <a:spLocks noGrp="1"/>
          </p:cNvSpPr>
          <p:nvPr/>
        </p:nvSpPr>
        <p:spPr>
          <a:xfrm>
            <a:off x="320040" y="6140000"/>
            <a:ext cx="11551615" cy="658000"/>
          </a:xfrm>
          <a:prstGeom prst="rect">
            <a:avLst/>
          </a:prstGeom>
          <a:solidFill>
            <a:srgbClr val="16233C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rect"/>
          <p:cNvSpPr>
            <a:spLocks noGrp="1"/>
          </p:cNvSpPr>
          <p:nvPr/>
        </p:nvSpPr>
        <p:spPr>
          <a:xfrm>
            <a:off x="320040" y="6140000"/>
            <a:ext cx="55000" cy="6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20040" y="6200000"/>
            <a:ext cx="1400000" cy="5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맑은 고딕"/>
              </a:rPr>
              <a:t>고려사항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0040" y="6200000"/>
            <a:ext cx="9951615" cy="5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맑은 고딕"/>
              </a:rPr>
              <a:t>유관부서 협의: 전자서명 사용 여부에 대해 유관 부서와 사전 협의가 필요합니다.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