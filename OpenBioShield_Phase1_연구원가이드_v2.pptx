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E293B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Phase 1  |  시약 연구원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DNA 탐색 &amp; 변이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COVID-19 역학 대시보드  ·  유전체 브라우저  ·  프라이머 구조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572000"/>
            <a:ext cx="32004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1 개요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3개 화면으로 구성된 탐색 워크플로우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3739896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COVID 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역학 컨텍스트 파악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국가·지역별 발생 현황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CFR 트렌드 차트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타겟 질환 선택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078992"/>
            <a:ext cx="3739896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DNA 서열 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88536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8536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NCBI 참조 서열 자동 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88536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변이 위치 오버레이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관심 영역 줌인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8536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프라이머 결합 위치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29016" y="1078992"/>
            <a:ext cx="3739896" cy="448056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29016" y="1078992"/>
            <a:ext cx="3739896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115214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1936" y="1152144"/>
            <a:ext cx="3172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프라이머 구조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4" y="1591056"/>
            <a:ext cx="3611879" cy="18288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3024" y="167335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2차 구조 아크 다이어그램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4" y="217627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GC% · Tm 수치 확인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4" y="267919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변이주별 미스매치 검출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3182112"/>
            <a:ext cx="3611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</a:rPr>
              <a:t>왓슨-크릭 결합 시각화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687568"/>
            <a:ext cx="11548872" cy="65836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687568"/>
            <a:ext cx="54864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60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활용 순서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7607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COVID 대시보드(역학 파악) → DNA 맵(보존 영역 확인) → 프라이머 구조(설계 적합성 평가) 순으로 진행하면 가장 효율적입니다.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COVID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역학 컨텍스트 파악 — 어떤 변이주를 타겟할지 결정하는 첫 단계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6692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" y="1312164"/>
            <a:ext cx="649224" cy="649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312164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188719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세계 지도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554480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국가별 확진자·사망자 색상 히트맵
관심 국가 클릭 → 상세 수치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313432"/>
            <a:ext cx="56692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" y="2546604"/>
            <a:ext cx="649224" cy="649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546604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42316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대한민국 시도별 현황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88920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시도별 발생 현황 → 국내 진단 수요 예측에 활용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47872"/>
            <a:ext cx="56692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" y="3781044"/>
            <a:ext cx="649224" cy="649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3781044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5760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치명률(CFR) 트렌드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023360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CFR 높고 확산 중인 변이주 확인 → 개발 우선순위 결정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782312"/>
            <a:ext cx="56692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" y="5015484"/>
            <a:ext cx="649224" cy="649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" y="5015484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92040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질환 선택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57800"/>
            <a:ext cx="46177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SARS-CoV-2 외 HPV, STI 등 타 질환으로 전환 가능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0789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실무 활용 시나리오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536192"/>
            <a:ext cx="55778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536192"/>
            <a:ext cx="54864" cy="13898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6276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신규 진단 키트 타겟 선정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02996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CFR·확산 속도 데이터로 개발 필요성 높은 변이주 선택
→ 해당 서열로 Phase 3 진행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044952"/>
            <a:ext cx="55778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044952"/>
            <a:ext cx="54864" cy="1389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13639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국내 특화 진단 제품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53872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시도별 지도에서 유행 지역 확인
→ 지역 특화 변이주 타겟 설계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553712"/>
            <a:ext cx="557784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553712"/>
            <a:ext cx="54864" cy="13898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645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개발 배경 근거 문서화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0474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역학 데이터 스크린샷 → ELN·보고서에 첨부
→ 허가 신청 배경 자료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대시보드는 실시간 데이터를 반영합니다. 개발 착수 전 최신 유행 상황을 확인해 타겟 변이주를 최신화하세요.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DNA 서열 맵 (유전체 브라우저)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변이 위치를 유전자 지도에서 직접 확인하고 프라이머 설계 타겟 구간을 선정합니다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2834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NCBI 자동 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인터넷 연결 시
최신 참조 서열 수신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1078992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0128" y="1078992"/>
            <a:ext cx="2834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변이 위치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SNP·InDel 위치에
색상 마커 자동 표시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216" y="1078992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216" y="1078992"/>
            <a:ext cx="2834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영역 줌인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관심 유전자 영역
드래그로 확대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90304" y="1078992"/>
            <a:ext cx="283464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90304" y="1078992"/>
            <a:ext cx="28346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7464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프라이머 위치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157276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기존 프라이머
결합 구간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251460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단계별 사용법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944368"/>
            <a:ext cx="57790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" y="3236976"/>
            <a:ext cx="649224" cy="6492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3236976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054096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변이주 선택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419856"/>
            <a:ext cx="4727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상단 드롭다운에서 분석할 변이주 선택 → 돌연변이 목록 자동 표시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297680"/>
            <a:ext cx="57790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" y="4590288"/>
            <a:ext cx="649224" cy="6492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590288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407408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타겟 유전자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773168"/>
            <a:ext cx="4727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스파이크·RdRp·N 단백질 등 진단 타겟 영역 확인 — 변이 밀도 낮은 구간이 설계에 유리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81927" y="2944368"/>
            <a:ext cx="57790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91655" y="3236976"/>
            <a:ext cx="649224" cy="64922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1655" y="3236976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96327" y="3054096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보존 영역 메모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6327" y="3419856"/>
            <a:ext cx="4727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변이 마커가 없는 구간 = 보존 영역 → Phase 3 FASTA 업로드 시 해당 영역 서열 준비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7" y="4297680"/>
            <a:ext cx="577900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91655" y="4590288"/>
            <a:ext cx="649224" cy="6492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5" y="4590288"/>
            <a:ext cx="649224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96327" y="4407408"/>
            <a:ext cx="4727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프라이머 위치 검토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7" y="4773168"/>
            <a:ext cx="4727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기존 공개 프라이머와 신규 변이의 오버랩 확인 → 오버랩 시 재설계 필요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변이 마커가 밀집한 핫스팟은 피하고, 여러 변이주에서 공통으로 비어있는 구간을 프라이머 타겟으로 선택하세요.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프라이머 구조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기존 프라이머의 2차 구조·Tm·변이 영향을 실험 전에 사전 평가합니다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수치 판독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81328"/>
            <a:ext cx="13716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5087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지표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1640" y="1481328"/>
            <a:ext cx="164592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508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이상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481328"/>
            <a:ext cx="214884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50876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판정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38528"/>
            <a:ext cx="1371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98424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GC%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1938528"/>
            <a:ext cx="16459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198424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40–60%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1938528"/>
            <a:ext cx="2148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198424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이상 범위 권장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4144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4871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Tm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1640" y="244144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55648" y="248716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58–65°C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441448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248716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qPCR 권장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944368"/>
            <a:ext cx="137160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99008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MFE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2944368"/>
            <a:ext cx="164592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55648" y="299008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&gt; -6 kcal/mol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944368"/>
            <a:ext cx="2148840" cy="475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01568" y="299008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구조 형성 위험 없음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4472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4930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미스매치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640" y="344728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55648" y="349300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0–1개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3447288"/>
            <a:ext cx="21488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3493008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</a:rPr>
              <a:t>2개 이상 → 재설계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40965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화면 구성 요소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07992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507992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5537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아크 다이어그램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45537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프라이머 2차 구조 — 아크 밀집 = 헤어핀 위험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074920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07492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5120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염기 조성 막대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51206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A·T·G·C 위치별 비율 — GC 편중 구간 파악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641848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641848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687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변이주 미스매치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77440" y="56875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선택 변이주의 미스매치 위치 빨간 마커 표시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1078992"/>
            <a:ext cx="5897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실무 활용 케이스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1508760"/>
            <a:ext cx="5897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89320" y="150876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72200" y="1591056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기존 키트 변이 영향 평가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1975104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현재 시판 프라이머 서열 입력 → 신규 변이주 선택
→ 미스매치 개수 확인 → 2개 이상이면 재설계 착수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89320" y="2807208"/>
            <a:ext cx="5897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89320" y="2807208"/>
            <a:ext cx="54864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288950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Phase 3 결과 교차 검증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3273552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Phase 3에서 설계된 신규 프라이머를 이 화면에서
2차 구조·Tm 재확인 후 실험 진행 여부 최종 결정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4105656"/>
            <a:ext cx="5897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89320" y="4105656"/>
            <a:ext cx="54864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72200" y="418795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MFE 주의 기준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2200" y="45720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MFE &lt; -6 kcal/mol: 헤어핀 구조 가능성 높음
→ 해당 프라이머는 Phase 3 재설계 권장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89320" y="5404104"/>
            <a:ext cx="58978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989320" y="5404104"/>
            <a:ext cx="54864" cy="1188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5486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3'-end 미스매치 판단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587044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3' 말단 3bp 내 미스매치 존재 시
→ PCR 실패 위험 매우 높음 → 즉각 재설계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MFE 값이 -6 kcal/mol보다 낮으면(더 안정적이면) 헤어핀 구조 가능성이 높습니다. 해당 프라이머는 Phase 3 재설계를 권장합니다.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변이주 선택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세 화면에서 공통으로 사용하는 변이주 선택기 — 정확한 선택이 분석 품질을 결정합니다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지원 변이주 (SARS-CoV-2 기준)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4864" cy="5669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</a:rPr>
              <a:t>Wild-type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55448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우한 원형 서열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30552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130552"/>
            <a:ext cx="54864" cy="5669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762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Alpha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17627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B.1.1.7  |  N501Y  |  영국발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52344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54864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7980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Beta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79806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B.1.351  |  E484K  |  남아공발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374136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374136"/>
            <a:ext cx="54864" cy="5669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41985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Delta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419856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B.1.617.2  |  L452R  |  인도발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95928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95928"/>
            <a:ext cx="54864" cy="5669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0416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Omicron BA.1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04164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돌연변이 32개  |  기존 프라이머 영향 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617720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617720"/>
            <a:ext cx="54864" cy="566928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916FA"/>
                </a:solidFill>
              </a:rPr>
              <a:t>Omicron BA.5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4663440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국내 주요 유행 아형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39512"/>
            <a:ext cx="5486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5239512"/>
            <a:ext cx="54864" cy="5669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2852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EA5E9"/>
                </a:solidFill>
              </a:rPr>
              <a:t>XBB / JN.1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52852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최신 재조합 변이주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1078992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지원 질환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1508760"/>
            <a:ext cx="5806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1508760"/>
            <a:ext cx="54864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5819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SARS-CoV-2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15819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COVID-19 진단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2258568"/>
            <a:ext cx="5806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35040" y="2258568"/>
            <a:ext cx="54864" cy="6583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HPV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331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자궁경부암 관련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08376"/>
            <a:ext cx="58064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35040" y="3008376"/>
            <a:ext cx="54864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08152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STI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308152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성매개 감염 패널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3840480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변이주 선택 실무 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251960"/>
            <a:ext cx="5806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4251960"/>
            <a:ext cx="54864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29768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현재 국내 유행 아형부터 분석 시작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4800600"/>
            <a:ext cx="5806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35040" y="4800600"/>
            <a:ext cx="54864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484632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기존 키트 평가 시 → 출시 당시 + 최신 변이 두 가지 비교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5349240"/>
            <a:ext cx="5806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35040" y="5349240"/>
            <a:ext cx="54864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539496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Omicron BA.1은 스파이크 프라이머에 가장 큰 영향 → 반드시 재검토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5897880"/>
            <a:ext cx="580644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35040" y="5897880"/>
            <a:ext cx="54864" cy="4754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5943600"/>
            <a:ext cx="5532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신규 변이 추가는 개발팀 요청으로 반영 가능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Omicron BA.1은 스파이크 영역에 돌연변이가 32개입니다. 스파이크 타겟 프라이머를 보유 중이라면 반드시 재검토하세요.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Phase 1 활용 결론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Phase 1에서 얻은 정보를 Phase 2, 3에 어떻게 연결하는가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Phase 1 산출물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타겟 변이주 결정 (역학 데이터 기반)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67004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670048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4320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프라이머 결합 후보 구간 (DNA 맵 보존 영역)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7588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75888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기존 프라이머 재설계 필요 여부 (미스매치 확인)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68172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81728"/>
            <a:ext cx="54864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548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개발 배경 근거 자료 (역학 스크린샷)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1188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→  Phase 2 전달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166420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1664208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17373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기존 프라이머 서열 → EP05/EP09 정밀도 검증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67004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79" y="2670048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274320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변이 위치 정보 → PFPS 위험도 계산 입력값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79" y="367588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79" y="3675888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미스매치 위치 → 3'-end 근접 여부 확인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468172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79" y="4681728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7548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역학 데이터 → 검증 우선순위 결정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1188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→  Phase 3 전달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166420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75319" y="1664208"/>
            <a:ext cx="54864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173736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보존 영역 좌표 → FASTA 구성 기준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9" y="267004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19" y="2670048"/>
            <a:ext cx="54864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74320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타겟 변이주 서열 → FASTA 포함 목록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9" y="367588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3675888"/>
            <a:ext cx="54864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3749039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어세이 타입 결정 → qPCR/Multiplex 선택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19" y="4681728"/>
            <a:ext cx="3739896" cy="86868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19" y="4681728"/>
            <a:ext cx="54864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4754880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Tm 기준 파악 → Advanced Options 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