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4630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DNA 탐색 &amp;
변이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246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EE7B7"/>
                </a:solidFill>
              </a:rPr>
              <a:t>COVID-19 역학 · 유전체 브라우저 · 프라이머 구조 시각화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886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시약 연구원을 위한 기능 사용 가이드</a:t>
            </a:r>
          </a:p>
        </p:txBody>
      </p:sp>
      <p:sp>
        <p:nvSpPr>
          <p:cNvPr id="8" name="Smiley Face 7"/>
          <p:cNvSpPr/>
          <p:nvPr/>
        </p:nvSpPr>
        <p:spPr>
          <a:xfrm>
            <a:off x="8778240" y="1371600"/>
            <a:ext cx="310896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0" y="1371600"/>
            <a:ext cx="59436" cy="1188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4630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57276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COVID 대시보드</a:t>
            </a:r>
          </a:p>
        </p:txBody>
      </p:sp>
      <p:sp>
        <p:nvSpPr>
          <p:cNvPr id="12" name="Smiley Face 11"/>
          <p:cNvSpPr/>
          <p:nvPr/>
        </p:nvSpPr>
        <p:spPr>
          <a:xfrm>
            <a:off x="8778240" y="2788920"/>
            <a:ext cx="310896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2788920"/>
            <a:ext cx="59436" cy="1188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88036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99008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DNA 서열 맵</a:t>
            </a:r>
          </a:p>
        </p:txBody>
      </p:sp>
      <p:sp>
        <p:nvSpPr>
          <p:cNvPr id="16" name="Smiley Face 15"/>
          <p:cNvSpPr/>
          <p:nvPr/>
        </p:nvSpPr>
        <p:spPr>
          <a:xfrm>
            <a:off x="8778240" y="4206240"/>
            <a:ext cx="310896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0" y="4206240"/>
            <a:ext cx="59436" cy="1188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42976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4074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프라이머 구조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463040" cy="5943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Phase 1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3개 화면으로 구성된 탐색 &amp; 분석 워크플로우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188720"/>
            <a:ext cx="3749039" cy="516636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73152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1298448"/>
            <a:ext cx="384048" cy="384048"/>
          </a:xfrm>
          <a:prstGeom prst="ellipse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31673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307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727E"/>
                </a:solidFill>
              </a:rPr>
              <a:t>🦠 COVID 대시보드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37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역학 데이터 파악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국가별·지역별 발생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986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치명률(CFR) 트렌드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5701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대한민국 시도별 현황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1538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타겟 바이러스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657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4727E"/>
                </a:solidFill>
              </a:rPr>
              <a:t>➜</a:t>
            </a:r>
          </a:p>
        </p:txBody>
      </p:sp>
      <p:sp>
        <p:nvSpPr>
          <p:cNvPr id="17" name="Smiley Face 16"/>
          <p:cNvSpPr/>
          <p:nvPr/>
        </p:nvSpPr>
        <p:spPr>
          <a:xfrm>
            <a:off x="4251959" y="1188720"/>
            <a:ext cx="3749039" cy="516636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188720"/>
            <a:ext cx="3749039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43400" y="1298448"/>
            <a:ext cx="384048" cy="38404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2544" y="131673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1307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0A5FA"/>
                </a:solidFill>
              </a:rPr>
              <a:t>🧬 DNA 서열 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737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유전자 수준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240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참조 서열 로드 (NCBI)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8986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변이 위치 오버레이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55701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관심 영역 줌인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21538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프라이머 결합 위치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657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0A5FA"/>
                </a:solidFill>
              </a:rPr>
              <a:t>➜</a:t>
            </a:r>
          </a:p>
        </p:txBody>
      </p:sp>
      <p:sp>
        <p:nvSpPr>
          <p:cNvPr id="28" name="Smiley Face 27"/>
          <p:cNvSpPr/>
          <p:nvPr/>
        </p:nvSpPr>
        <p:spPr>
          <a:xfrm>
            <a:off x="8229600" y="1188720"/>
            <a:ext cx="3749039" cy="516636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1188720"/>
            <a:ext cx="3749039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21040" y="1298448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131673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307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</a:rPr>
              <a:t>🔬 프라이머 구조 분석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1737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설계 적합성 평가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240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2차 구조 아크 다이어그램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8986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GC% · Tm 수치 확인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55701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변이주별 미스매치 검출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21538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왓슨-크릭 염기쌍 시각화</a:t>
            </a:r>
          </a:p>
        </p:txBody>
      </p:sp>
      <p:sp>
        <p:nvSpPr>
          <p:cNvPr id="38" name="Smiley Face 37"/>
          <p:cNvSpPr/>
          <p:nvPr/>
        </p:nvSpPr>
        <p:spPr>
          <a:xfrm>
            <a:off x="274320" y="6446520"/>
            <a:ext cx="11612880" cy="658368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6446520"/>
            <a:ext cx="59436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537959"/>
            <a:ext cx="11384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Phase 1은 실험 설계 전 배경 파악용입니다. COVID 대시보드 → DNA 맵 → 구조 분석 순서로 진행하면 가장 효율적입니다.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463040" cy="59436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7E"/>
                </a:solidFill>
              </a:rPr>
              <a:t>화면 1  |  COVID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역학 컨텍스트 파악 — 왜 이 변이주를 타겟하는가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188720"/>
            <a:ext cx="539496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📊  화면 구성 요소</a:t>
            </a:r>
          </a:p>
        </p:txBody>
      </p:sp>
      <p:sp>
        <p:nvSpPr>
          <p:cNvPr id="8" name="Smiley Face 7"/>
          <p:cNvSpPr/>
          <p:nvPr/>
        </p:nvSpPr>
        <p:spPr>
          <a:xfrm>
            <a:off x="411480" y="1810512"/>
            <a:ext cx="5120640" cy="91440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10512"/>
            <a:ext cx="59436" cy="914400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6537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7E"/>
                </a:solidFill>
              </a:rPr>
              <a:t>세계 지도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585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국가별 확진자·사망자 색상 히트맵
관심 지역 클릭 → 상세 수치 표시</a:t>
            </a:r>
          </a:p>
        </p:txBody>
      </p:sp>
      <p:sp>
        <p:nvSpPr>
          <p:cNvPr id="12" name="Smiley Face 11"/>
          <p:cNvSpPr/>
          <p:nvPr/>
        </p:nvSpPr>
        <p:spPr>
          <a:xfrm>
            <a:off x="411480" y="2834640"/>
            <a:ext cx="5120640" cy="91440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834640"/>
            <a:ext cx="59436" cy="914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8950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대한민국 지도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8269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시도별 발생 현황 시각화
국내 진단 수요 예측에 활용</a:t>
            </a:r>
          </a:p>
        </p:txBody>
      </p:sp>
      <p:sp>
        <p:nvSpPr>
          <p:cNvPr id="16" name="Smiley Face 15"/>
          <p:cNvSpPr/>
          <p:nvPr/>
        </p:nvSpPr>
        <p:spPr>
          <a:xfrm>
            <a:off x="411480" y="3858768"/>
            <a:ext cx="5120640" cy="91440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858768"/>
            <a:ext cx="59436" cy="914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136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핵심 지표 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068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전 세계 총 확진·사망·치명률(CFR)
날짜별 트렌드 차트</a:t>
            </a:r>
          </a:p>
        </p:txBody>
      </p:sp>
      <p:sp>
        <p:nvSpPr>
          <p:cNvPr id="20" name="Smiley Face 19"/>
          <p:cNvSpPr/>
          <p:nvPr/>
        </p:nvSpPr>
        <p:spPr>
          <a:xfrm>
            <a:off x="411480" y="4882896"/>
            <a:ext cx="5120640" cy="91440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882896"/>
            <a:ext cx="59436" cy="914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937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질환 선택기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309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SARS-CoV-2 외 추가 질환 전환 가능
(HPV, STI 등 — Phase 1 고정)</a:t>
            </a:r>
          </a:p>
        </p:txBody>
      </p:sp>
      <p:sp>
        <p:nvSpPr>
          <p:cNvPr id="24" name="Smiley Face 23"/>
          <p:cNvSpPr/>
          <p:nvPr/>
        </p:nvSpPr>
        <p:spPr>
          <a:xfrm>
            <a:off x="5897880" y="1188720"/>
            <a:ext cx="598932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2984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🔬  시약 연구원 활용 시나리오</a:t>
            </a:r>
          </a:p>
        </p:txBody>
      </p:sp>
      <p:sp>
        <p:nvSpPr>
          <p:cNvPr id="26" name="Smiley Face 25"/>
          <p:cNvSpPr/>
          <p:nvPr/>
        </p:nvSpPr>
        <p:spPr>
          <a:xfrm>
            <a:off x="6035040" y="1828800"/>
            <a:ext cx="5669280" cy="135331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1828800"/>
            <a:ext cx="59436" cy="1353312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9019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7E"/>
                </a:solidFill>
              </a:rPr>
              <a:t>신규 진단 키트 타겟 선정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313432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CFR이 높고 확산 중인 변이주를 대시보드에서
확인 → 해당 변이주 서열로 Phase 2/3 진행</a:t>
            </a:r>
          </a:p>
        </p:txBody>
      </p:sp>
      <p:sp>
        <p:nvSpPr>
          <p:cNvPr id="30" name="Smiley Face 29"/>
          <p:cNvSpPr/>
          <p:nvPr/>
        </p:nvSpPr>
        <p:spPr>
          <a:xfrm>
            <a:off x="6035040" y="3291840"/>
            <a:ext cx="5669280" cy="135331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3291840"/>
            <a:ext cx="59436" cy="135331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3649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국내 제품 출시 우선순위 결정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776472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대한민국 시도별 데이터 → 유행 지역 집중
→ 지역 특화 변이주 타겟 프라이머 개발</a:t>
            </a:r>
          </a:p>
        </p:txBody>
      </p:sp>
      <p:sp>
        <p:nvSpPr>
          <p:cNvPr id="34" name="Smiley Face 33"/>
          <p:cNvSpPr/>
          <p:nvPr/>
        </p:nvSpPr>
        <p:spPr>
          <a:xfrm>
            <a:off x="6035040" y="4754880"/>
            <a:ext cx="5669280" cy="135331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4754880"/>
            <a:ext cx="59436" cy="135331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8280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임상 검증 배경 자료 수집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239512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역학 데이터 스크린샷을 ELN·보고서에 첨부
→ 개발 필요성 근거 문서화</a:t>
            </a:r>
          </a:p>
        </p:txBody>
      </p:sp>
      <p:sp>
        <p:nvSpPr>
          <p:cNvPr id="38" name="Smiley Face 37"/>
          <p:cNvSpPr/>
          <p:nvPr/>
        </p:nvSpPr>
        <p:spPr>
          <a:xfrm>
            <a:off x="274320" y="6446520"/>
            <a:ext cx="11612880" cy="658368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6446520"/>
            <a:ext cx="59436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537959"/>
            <a:ext cx="11384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대시보드는 실시간 데이터를 반영합니다. 개발 착수 전 최신 유행 상황을 확인해 타겟 변이주를 최신화하세요.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463040" cy="5943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화면 2  |  DNA 서열 맵 (유전체 브라우저)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변이 위치를 유전자 지도에서 직접 확인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188720"/>
            <a:ext cx="2834640" cy="18288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834640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984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25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NCBI 참조
서열 자동 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4767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인터넷 연결 시 최신
참조 서열 자동 수신</a:t>
            </a:r>
          </a:p>
        </p:txBody>
      </p:sp>
      <p:sp>
        <p:nvSpPr>
          <p:cNvPr id="11" name="Smiley Face 10"/>
          <p:cNvSpPr/>
          <p:nvPr/>
        </p:nvSpPr>
        <p:spPr>
          <a:xfrm>
            <a:off x="3264408" y="1188720"/>
            <a:ext cx="2834640" cy="18288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4408" y="1188720"/>
            <a:ext cx="2834640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2984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5928" y="1325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C"/>
                </a:solidFill>
              </a:rPr>
              <a:t>변이 위치
어노테이션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94767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SNP·InDel 위치에
색상 마커 표시</a:t>
            </a:r>
          </a:p>
        </p:txBody>
      </p:sp>
      <p:sp>
        <p:nvSpPr>
          <p:cNvPr id="16" name="Smiley Face 15"/>
          <p:cNvSpPr/>
          <p:nvPr/>
        </p:nvSpPr>
        <p:spPr>
          <a:xfrm>
            <a:off x="6254496" y="1188720"/>
            <a:ext cx="2834640" cy="18288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1188720"/>
            <a:ext cx="2834640" cy="6400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12984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1325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</a:rPr>
              <a:t>영역 줌인
&amp; 탐색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194767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관심 유전자 영역
드래그로 확대</a:t>
            </a:r>
          </a:p>
        </p:txBody>
      </p:sp>
      <p:sp>
        <p:nvSpPr>
          <p:cNvPr id="21" name="Smiley Face 20"/>
          <p:cNvSpPr/>
          <p:nvPr/>
        </p:nvSpPr>
        <p:spPr>
          <a:xfrm>
            <a:off x="9244584" y="1188720"/>
            <a:ext cx="2834640" cy="18288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44584" y="1188720"/>
            <a:ext cx="2834640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12984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6104" y="1325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프라이머
결합 위치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194767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기존 알려진 프라이머
결합 구간 표시</a:t>
            </a:r>
          </a:p>
        </p:txBody>
      </p:sp>
      <p:sp>
        <p:nvSpPr>
          <p:cNvPr id="26" name="Smiley Face 25"/>
          <p:cNvSpPr/>
          <p:nvPr/>
        </p:nvSpPr>
        <p:spPr>
          <a:xfrm>
            <a:off x="274320" y="3246120"/>
            <a:ext cx="11612880" cy="30175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3558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🔬  시약 연구원 단계별 사용법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" y="3858768"/>
            <a:ext cx="347472" cy="34747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3877056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8770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변이주 선택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325112"/>
            <a:ext cx="2743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상단 드롭다운에서 분석할 변이주(예: Omicron BA.5) 선택
→ 해당 변이의 돌연변이 목록이 지도에 자동 표시</a:t>
            </a:r>
          </a:p>
        </p:txBody>
      </p:sp>
      <p:sp>
        <p:nvSpPr>
          <p:cNvPr id="32" name="Oval 31"/>
          <p:cNvSpPr/>
          <p:nvPr/>
        </p:nvSpPr>
        <p:spPr>
          <a:xfrm>
            <a:off x="3474720" y="3858768"/>
            <a:ext cx="347472" cy="34747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83864" y="3877056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4487" y="38770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타겟 유전자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325112"/>
            <a:ext cx="2743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스파이크(S)·RdRp·N 단백질 등 진단 타겟 영역 확인
→ 변이 밀도가 낮은 구간이 프라이머 설계에 유리</a:t>
            </a:r>
          </a:p>
        </p:txBody>
      </p:sp>
      <p:sp>
        <p:nvSpPr>
          <p:cNvPr id="36" name="Oval 35"/>
          <p:cNvSpPr/>
          <p:nvPr/>
        </p:nvSpPr>
        <p:spPr>
          <a:xfrm>
            <a:off x="6446520" y="3858768"/>
            <a:ext cx="347472" cy="3474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5664" y="3877056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38770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보존 영역 메모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325112"/>
            <a:ext cx="2743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변이 마커가 없는 구간 = 보존 영역
→ Phase 3 FASTA 업로드 시 해당 영역 포함 서열 준비</a:t>
            </a:r>
          </a:p>
        </p:txBody>
      </p:sp>
      <p:sp>
        <p:nvSpPr>
          <p:cNvPr id="40" name="Oval 39"/>
          <p:cNvSpPr/>
          <p:nvPr/>
        </p:nvSpPr>
        <p:spPr>
          <a:xfrm>
            <a:off x="9418320" y="3858768"/>
            <a:ext cx="347472" cy="347472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27464" y="3877056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088" y="38770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</a:rPr>
              <a:t>프라이머 위치 검토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4325112"/>
            <a:ext cx="2743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기존 공개 프라이머 결합 위치와 신규 변이의 오버랩 확인
→ 오버랩 시 기존 프라이머 성능 저하 가능 → 재설계 필요</a:t>
            </a:r>
          </a:p>
        </p:txBody>
      </p:sp>
      <p:sp>
        <p:nvSpPr>
          <p:cNvPr id="44" name="Smiley Face 43"/>
          <p:cNvSpPr/>
          <p:nvPr/>
        </p:nvSpPr>
        <p:spPr>
          <a:xfrm>
            <a:off x="274320" y="6446520"/>
            <a:ext cx="11612880" cy="658368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6446520"/>
            <a:ext cx="59436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6537959"/>
            <a:ext cx="11384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변이 마커가 밀집한 구간(핫스팟)은 피하고, 여러 변이주에서 공통으로 비어있는 구간을 프라이머 타겟으로 선택하세요.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463040" cy="5943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화면 3  |  프라이머 구조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기존 프라이머의 안정성 · 변이 영향 사전 평가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188720"/>
            <a:ext cx="539496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📐  화면 구성 요소</a:t>
            </a:r>
          </a:p>
        </p:txBody>
      </p:sp>
      <p:sp>
        <p:nvSpPr>
          <p:cNvPr id="8" name="Smiley Face 7"/>
          <p:cNvSpPr/>
          <p:nvPr/>
        </p:nvSpPr>
        <p:spPr>
          <a:xfrm>
            <a:off x="411480" y="1847088"/>
            <a:ext cx="5120640" cy="91440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47088"/>
            <a:ext cx="59436" cy="914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아크 다이어그램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0428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프라이머 2차 구조를 반원 아크로 표현
아크 = 왓슨-크릭 염기쌍 결합
꼬임·겹침이 많으면 헤어핀 위험</a:t>
            </a:r>
          </a:p>
        </p:txBody>
      </p:sp>
      <p:sp>
        <p:nvSpPr>
          <p:cNvPr id="12" name="Smiley Face 11"/>
          <p:cNvSpPr/>
          <p:nvPr/>
        </p:nvSpPr>
        <p:spPr>
          <a:xfrm>
            <a:off x="411480" y="2871216"/>
            <a:ext cx="5120640" cy="91440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871216"/>
            <a:ext cx="59436" cy="914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260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염기 조성 막대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2841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A·T·G·C 각 염기의 위치별 비율 표시
 GC 편중 구간을 시각적으로 파악</a:t>
            </a:r>
          </a:p>
        </p:txBody>
      </p:sp>
      <p:sp>
        <p:nvSpPr>
          <p:cNvPr id="16" name="Smiley Face 15"/>
          <p:cNvSpPr/>
          <p:nvPr/>
        </p:nvSpPr>
        <p:spPr>
          <a:xfrm>
            <a:off x="411480" y="3895344"/>
            <a:ext cx="5120640" cy="91440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895344"/>
            <a:ext cx="59436" cy="914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5020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열역학 지표 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525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GC% · Tm · MFE (최소 자유 에너지)
수치가 낮을수록 구조 형성 위험 높음</a:t>
            </a:r>
          </a:p>
        </p:txBody>
      </p:sp>
      <p:sp>
        <p:nvSpPr>
          <p:cNvPr id="20" name="Smiley Face 19"/>
          <p:cNvSpPr/>
          <p:nvPr/>
        </p:nvSpPr>
        <p:spPr>
          <a:xfrm>
            <a:off x="411480" y="4919472"/>
            <a:ext cx="5120640" cy="91440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919472"/>
            <a:ext cx="59436" cy="914400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9743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7E"/>
                </a:solidFill>
              </a:rPr>
              <a:t>변이주 미스매치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7667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선택 변이주에서 해당 프라이머의
미스매치 위치·개수 빨간 마커 표시</a:t>
            </a:r>
          </a:p>
        </p:txBody>
      </p:sp>
      <p:sp>
        <p:nvSpPr>
          <p:cNvPr id="24" name="Smiley Face 23"/>
          <p:cNvSpPr/>
          <p:nvPr/>
        </p:nvSpPr>
        <p:spPr>
          <a:xfrm>
            <a:off x="5897880" y="1188720"/>
            <a:ext cx="5989320" cy="2331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2984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📊  수치 판독 기준</a:t>
            </a:r>
          </a:p>
        </p:txBody>
      </p:sp>
      <p:sp>
        <p:nvSpPr>
          <p:cNvPr id="26" name="Smiley Face 25"/>
          <p:cNvSpPr/>
          <p:nvPr/>
        </p:nvSpPr>
        <p:spPr>
          <a:xfrm>
            <a:off x="6035040" y="1783080"/>
            <a:ext cx="5715000" cy="420624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18288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</a:rPr>
              <a:t>GC%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1828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40–60%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8288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이상 범위</a:t>
            </a:r>
          </a:p>
        </p:txBody>
      </p:sp>
      <p:sp>
        <p:nvSpPr>
          <p:cNvPr id="30" name="Smiley Face 29"/>
          <p:cNvSpPr/>
          <p:nvPr/>
        </p:nvSpPr>
        <p:spPr>
          <a:xfrm>
            <a:off x="6035040" y="2258568"/>
            <a:ext cx="5715000" cy="420624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23042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Tm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3042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58–65°C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3042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qPCR 권장</a:t>
            </a:r>
          </a:p>
        </p:txBody>
      </p:sp>
      <p:sp>
        <p:nvSpPr>
          <p:cNvPr id="34" name="Smiley Face 33"/>
          <p:cNvSpPr/>
          <p:nvPr/>
        </p:nvSpPr>
        <p:spPr>
          <a:xfrm>
            <a:off x="6035040" y="2734056"/>
            <a:ext cx="5715000" cy="420624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27797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MFE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27797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&gt; -6 kcal/mol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77977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구조 위험 없음</a:t>
            </a:r>
          </a:p>
        </p:txBody>
      </p:sp>
      <p:sp>
        <p:nvSpPr>
          <p:cNvPr id="38" name="Smiley Face 37"/>
          <p:cNvSpPr/>
          <p:nvPr/>
        </p:nvSpPr>
        <p:spPr>
          <a:xfrm>
            <a:off x="6035040" y="3209544"/>
            <a:ext cx="5715000" cy="420624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32552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27E"/>
                </a:solidFill>
              </a:rPr>
              <a:t>미스매치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325526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0–1개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2552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2개↑ 재설계</a:t>
            </a:r>
          </a:p>
        </p:txBody>
      </p:sp>
      <p:sp>
        <p:nvSpPr>
          <p:cNvPr id="42" name="Smiley Face 41"/>
          <p:cNvSpPr/>
          <p:nvPr/>
        </p:nvSpPr>
        <p:spPr>
          <a:xfrm>
            <a:off x="5897880" y="3703320"/>
            <a:ext cx="5989320" cy="25603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38130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🔬  실무 활용 케이스</a:t>
            </a:r>
          </a:p>
        </p:txBody>
      </p:sp>
      <p:sp>
        <p:nvSpPr>
          <p:cNvPr id="44" name="Smiley Face 43"/>
          <p:cNvSpPr/>
          <p:nvPr/>
        </p:nvSpPr>
        <p:spPr>
          <a:xfrm>
            <a:off x="6035040" y="4251960"/>
            <a:ext cx="5715000" cy="80467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4251960"/>
            <a:ext cx="59436" cy="8046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43159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</a:rPr>
              <a:t>기존 키트 변이 영향 평가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6817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현재 시판 프라이머 서열 입력 → 신규 변이주 선택
→ 미스매치 개수 확인 → 2개↑이면 재설계 착수</a:t>
            </a:r>
          </a:p>
        </p:txBody>
      </p:sp>
      <p:sp>
        <p:nvSpPr>
          <p:cNvPr id="48" name="Smiley Face 47"/>
          <p:cNvSpPr/>
          <p:nvPr/>
        </p:nvSpPr>
        <p:spPr>
          <a:xfrm>
            <a:off x="6035040" y="5166360"/>
            <a:ext cx="5715000" cy="80467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35040" y="5166360"/>
            <a:ext cx="59436" cy="8046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52303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Phase 3 결과 교차 검증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5961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Phase 3에서 설계된 신규 프라이머를
이 화면에서 2차 구조·Tm 재확인</a:t>
            </a:r>
          </a:p>
        </p:txBody>
      </p:sp>
      <p:sp>
        <p:nvSpPr>
          <p:cNvPr id="52" name="Smiley Face 51"/>
          <p:cNvSpPr/>
          <p:nvPr/>
        </p:nvSpPr>
        <p:spPr>
          <a:xfrm>
            <a:off x="274320" y="6446520"/>
            <a:ext cx="11612880" cy="658368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6446520"/>
            <a:ext cx="59436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6537959"/>
            <a:ext cx="11384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MFE 값이 -6 kcal/mol보다 낮으면(더 안정적이면) 헤어핀 구조 가능성이 높습니다. 해당 프라이머는 Phase 3 재설계를 권장합니다.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463040" cy="5943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</a:rPr>
              <a:t>공통 기능  |  변이주 선택 &amp; 질환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분석 대상을 정확하게 설정하는 방법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188720"/>
            <a:ext cx="557784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🦠  지원 변이주 목록 (SARS-CoV-2 기준)</a:t>
            </a:r>
          </a:p>
        </p:txBody>
      </p:sp>
      <p:sp>
        <p:nvSpPr>
          <p:cNvPr id="8" name="Smiley Face 7"/>
          <p:cNvSpPr/>
          <p:nvPr/>
        </p:nvSpPr>
        <p:spPr>
          <a:xfrm>
            <a:off x="411480" y="1810512"/>
            <a:ext cx="5303520" cy="512064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10512"/>
            <a:ext cx="59436" cy="5120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56231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Wild-type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856231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초기 우한 원형 서열</a:t>
            </a:r>
          </a:p>
        </p:txBody>
      </p:sp>
      <p:sp>
        <p:nvSpPr>
          <p:cNvPr id="12" name="Smiley Face 11"/>
          <p:cNvSpPr/>
          <p:nvPr/>
        </p:nvSpPr>
        <p:spPr>
          <a:xfrm>
            <a:off x="411480" y="2386584"/>
            <a:ext cx="5303520" cy="512064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386584"/>
            <a:ext cx="59436" cy="5120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32303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Alpha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32303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B.1.1.7 — 영국발, D614G+N501Y</a:t>
            </a:r>
          </a:p>
        </p:txBody>
      </p:sp>
      <p:sp>
        <p:nvSpPr>
          <p:cNvPr id="16" name="Smiley Face 15"/>
          <p:cNvSpPr/>
          <p:nvPr/>
        </p:nvSpPr>
        <p:spPr>
          <a:xfrm>
            <a:off x="411480" y="2962656"/>
            <a:ext cx="5303520" cy="512064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962656"/>
            <a:ext cx="59436" cy="5120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00837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</a:rPr>
              <a:t>Beta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00837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B.1.351 — 남아공발, E484K</a:t>
            </a:r>
          </a:p>
        </p:txBody>
      </p:sp>
      <p:sp>
        <p:nvSpPr>
          <p:cNvPr id="20" name="Smiley Face 19"/>
          <p:cNvSpPr/>
          <p:nvPr/>
        </p:nvSpPr>
        <p:spPr>
          <a:xfrm>
            <a:off x="411480" y="3538728"/>
            <a:ext cx="5303520" cy="512064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538728"/>
            <a:ext cx="59436" cy="5120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58444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Delta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584448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B.1.617.2 — 인도발, L452R</a:t>
            </a:r>
          </a:p>
        </p:txBody>
      </p:sp>
      <p:sp>
        <p:nvSpPr>
          <p:cNvPr id="24" name="Smiley Face 23"/>
          <p:cNvSpPr/>
          <p:nvPr/>
        </p:nvSpPr>
        <p:spPr>
          <a:xfrm>
            <a:off x="411480" y="4114800"/>
            <a:ext cx="5303520" cy="512064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114800"/>
            <a:ext cx="59436" cy="512064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16052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27E"/>
                </a:solidFill>
              </a:rPr>
              <a:t>Omicron BA.1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16052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돌연변이 32개 — 기존 프라이머 영향 큼</a:t>
            </a:r>
          </a:p>
        </p:txBody>
      </p:sp>
      <p:sp>
        <p:nvSpPr>
          <p:cNvPr id="28" name="Smiley Face 27"/>
          <p:cNvSpPr/>
          <p:nvPr/>
        </p:nvSpPr>
        <p:spPr>
          <a:xfrm>
            <a:off x="411480" y="4690872"/>
            <a:ext cx="5303520" cy="512064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690872"/>
            <a:ext cx="59436" cy="5120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73659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Omicron BA.5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736592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국내 주요 유행 아형</a:t>
            </a:r>
          </a:p>
        </p:txBody>
      </p:sp>
      <p:sp>
        <p:nvSpPr>
          <p:cNvPr id="32" name="Smiley Face 31"/>
          <p:cNvSpPr/>
          <p:nvPr/>
        </p:nvSpPr>
        <p:spPr>
          <a:xfrm>
            <a:off x="411480" y="5266944"/>
            <a:ext cx="5303520" cy="512064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5266944"/>
            <a:ext cx="59436" cy="5120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31266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84FC"/>
                </a:solidFill>
              </a:rPr>
              <a:t>XBB / JN.1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5312664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최신 재조합 변이주</a:t>
            </a:r>
          </a:p>
        </p:txBody>
      </p:sp>
      <p:sp>
        <p:nvSpPr>
          <p:cNvPr id="36" name="Smiley Face 35"/>
          <p:cNvSpPr/>
          <p:nvPr/>
        </p:nvSpPr>
        <p:spPr>
          <a:xfrm>
            <a:off x="6035040" y="1188720"/>
            <a:ext cx="5852160" cy="22860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129844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🔄  지원 질환 전환</a:t>
            </a:r>
          </a:p>
        </p:txBody>
      </p:sp>
      <p:sp>
        <p:nvSpPr>
          <p:cNvPr id="38" name="Smiley Face 37"/>
          <p:cNvSpPr/>
          <p:nvPr/>
        </p:nvSpPr>
        <p:spPr>
          <a:xfrm>
            <a:off x="6172200" y="1810512"/>
            <a:ext cx="5577840" cy="493776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1810512"/>
            <a:ext cx="59436" cy="493776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1856231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7E"/>
                </a:solidFill>
              </a:rPr>
              <a:t>SARS-CoV-2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1856231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COVID-19 진단</a:t>
            </a:r>
          </a:p>
        </p:txBody>
      </p:sp>
      <p:sp>
        <p:nvSpPr>
          <p:cNvPr id="42" name="Smiley Face 41"/>
          <p:cNvSpPr/>
          <p:nvPr/>
        </p:nvSpPr>
        <p:spPr>
          <a:xfrm>
            <a:off x="6172200" y="2377440"/>
            <a:ext cx="5577840" cy="493776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2377440"/>
            <a:ext cx="59436" cy="4937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242316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HPV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42316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자궁경부암 관련</a:t>
            </a:r>
          </a:p>
        </p:txBody>
      </p:sp>
      <p:sp>
        <p:nvSpPr>
          <p:cNvPr id="46" name="Smiley Face 45"/>
          <p:cNvSpPr/>
          <p:nvPr/>
        </p:nvSpPr>
        <p:spPr>
          <a:xfrm>
            <a:off x="6172200" y="2944368"/>
            <a:ext cx="5577840" cy="493776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2200" y="2944368"/>
            <a:ext cx="59436" cy="4937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2990087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</a:rPr>
              <a:t>STI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2990087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성매개 감염 패널</a:t>
            </a:r>
          </a:p>
        </p:txBody>
      </p:sp>
      <p:sp>
        <p:nvSpPr>
          <p:cNvPr id="50" name="Smiley Face 49"/>
          <p:cNvSpPr/>
          <p:nvPr/>
        </p:nvSpPr>
        <p:spPr>
          <a:xfrm>
            <a:off x="6035040" y="3657600"/>
            <a:ext cx="5852160" cy="260604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37673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📌  변이주 선택 실무 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425196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›  현재 국내 유행 아형부터 분석 시작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727448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›  기존 키트 평가 시 → 출시 당시 유행 변이 + 최신 변이 두 가지 비교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5202936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›  변이주별 미스매치가 다르면 → 가장 많은 변이주에 Omicron 계열 선택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67842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›  신규 변이 추가는 개발팀 요청으로 반영 가능</a:t>
            </a:r>
          </a:p>
        </p:txBody>
      </p:sp>
      <p:sp>
        <p:nvSpPr>
          <p:cNvPr id="56" name="Smiley Face 55"/>
          <p:cNvSpPr/>
          <p:nvPr/>
        </p:nvSpPr>
        <p:spPr>
          <a:xfrm>
            <a:off x="274320" y="6446520"/>
            <a:ext cx="11612880" cy="658368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" y="6446520"/>
            <a:ext cx="59436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" y="6537959"/>
            <a:ext cx="11384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Omicron BA.1은 스파이크 영역에 돌연변이가 32개로 가장 많습니다. 기존 스파이크 타겟 프라이머를 보유 중이라면 반드시 재검토하세요.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4630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Phase 1 활용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Phase 1에서 얻은 정보를 다음 단계로 연결하기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143000"/>
            <a:ext cx="1161288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Phase 1에서 얻는 것</a:t>
            </a:r>
          </a:p>
        </p:txBody>
      </p:sp>
      <p:sp>
        <p:nvSpPr>
          <p:cNvPr id="8" name="Smiley Face 7"/>
          <p:cNvSpPr/>
          <p:nvPr/>
        </p:nvSpPr>
        <p:spPr>
          <a:xfrm>
            <a:off x="457200" y="1874519"/>
            <a:ext cx="3657600" cy="71323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59436" cy="7132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타겟 변이주 결정 (대시보드 역학 데이터 기반)</a:t>
            </a:r>
          </a:p>
        </p:txBody>
      </p:sp>
      <p:sp>
        <p:nvSpPr>
          <p:cNvPr id="11" name="Smiley Face 10"/>
          <p:cNvSpPr/>
          <p:nvPr/>
        </p:nvSpPr>
        <p:spPr>
          <a:xfrm>
            <a:off x="457200" y="2697479"/>
            <a:ext cx="3657600" cy="71323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97479"/>
            <a:ext cx="59436" cy="7132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61488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프라이머 결합 후보 영역 (DNA 맵 보존 구간)</a:t>
            </a:r>
          </a:p>
        </p:txBody>
      </p:sp>
      <p:sp>
        <p:nvSpPr>
          <p:cNvPr id="14" name="Smiley Face 13"/>
          <p:cNvSpPr/>
          <p:nvPr/>
        </p:nvSpPr>
        <p:spPr>
          <a:xfrm>
            <a:off x="457200" y="3520439"/>
            <a:ext cx="3657600" cy="71323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20439"/>
            <a:ext cx="59436" cy="7132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84448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기존 프라이머 재설계 필요 여부 (구조 분석 미스매치)</a:t>
            </a:r>
          </a:p>
        </p:txBody>
      </p:sp>
      <p:sp>
        <p:nvSpPr>
          <p:cNvPr id="17" name="Smiley Face 16"/>
          <p:cNvSpPr/>
          <p:nvPr/>
        </p:nvSpPr>
        <p:spPr>
          <a:xfrm>
            <a:off x="457200" y="4343400"/>
            <a:ext cx="3657600" cy="71323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59436" cy="7132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07408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개발 배경 근거 자료 (역학 현황 스크린샷)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325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→  Phase 2에 전달</a:t>
            </a:r>
          </a:p>
        </p:txBody>
      </p:sp>
      <p:sp>
        <p:nvSpPr>
          <p:cNvPr id="21" name="Smiley Face 20"/>
          <p:cNvSpPr/>
          <p:nvPr/>
        </p:nvSpPr>
        <p:spPr>
          <a:xfrm>
            <a:off x="4297680" y="1874519"/>
            <a:ext cx="3657600" cy="71323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1874519"/>
            <a:ext cx="59436" cy="7132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1938528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기존 프라이머 서열 → EP05/EP09 정밀도 검증</a:t>
            </a:r>
          </a:p>
        </p:txBody>
      </p:sp>
      <p:sp>
        <p:nvSpPr>
          <p:cNvPr id="24" name="Smiley Face 23"/>
          <p:cNvSpPr/>
          <p:nvPr/>
        </p:nvSpPr>
        <p:spPr>
          <a:xfrm>
            <a:off x="4297680" y="2697479"/>
            <a:ext cx="3657600" cy="71323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2697479"/>
            <a:ext cx="59436" cy="7132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761488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변이 위치 정보 → PFPS 위험도 계산 입력값</a:t>
            </a:r>
          </a:p>
        </p:txBody>
      </p:sp>
      <p:sp>
        <p:nvSpPr>
          <p:cNvPr id="27" name="Smiley Face 26"/>
          <p:cNvSpPr/>
          <p:nvPr/>
        </p:nvSpPr>
        <p:spPr>
          <a:xfrm>
            <a:off x="4297680" y="3520439"/>
            <a:ext cx="3657600" cy="71323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520439"/>
            <a:ext cx="59436" cy="7132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3584448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미스매치 위치 → 3'-end 근접 여부 확인 (HIGH 위험)</a:t>
            </a:r>
          </a:p>
        </p:txBody>
      </p:sp>
      <p:sp>
        <p:nvSpPr>
          <p:cNvPr id="30" name="Smiley Face 29"/>
          <p:cNvSpPr/>
          <p:nvPr/>
        </p:nvSpPr>
        <p:spPr>
          <a:xfrm>
            <a:off x="4297680" y="4343400"/>
            <a:ext cx="3657600" cy="71323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4343400"/>
            <a:ext cx="59436" cy="7132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407408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대시보드 역학 데이터 → 검증 우선순위 결정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1325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→  Phase 3에 전달</a:t>
            </a:r>
          </a:p>
        </p:txBody>
      </p:sp>
      <p:sp>
        <p:nvSpPr>
          <p:cNvPr id="34" name="Smiley Face 33"/>
          <p:cNvSpPr/>
          <p:nvPr/>
        </p:nvSpPr>
        <p:spPr>
          <a:xfrm>
            <a:off x="8138160" y="1874519"/>
            <a:ext cx="3657600" cy="71323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1874519"/>
            <a:ext cx="59436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1938528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보존 영역 좌표 → FASTA 파일 구성 기준</a:t>
            </a:r>
          </a:p>
        </p:txBody>
      </p:sp>
      <p:sp>
        <p:nvSpPr>
          <p:cNvPr id="37" name="Smiley Face 36"/>
          <p:cNvSpPr/>
          <p:nvPr/>
        </p:nvSpPr>
        <p:spPr>
          <a:xfrm>
            <a:off x="8138160" y="2697479"/>
            <a:ext cx="3657600" cy="71323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2697479"/>
            <a:ext cx="59436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2761488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타겟 변이주 서열 → FASTA에 포함할 변이주 목록</a:t>
            </a:r>
          </a:p>
        </p:txBody>
      </p:sp>
      <p:sp>
        <p:nvSpPr>
          <p:cNvPr id="40" name="Smiley Face 39"/>
          <p:cNvSpPr/>
          <p:nvPr/>
        </p:nvSpPr>
        <p:spPr>
          <a:xfrm>
            <a:off x="8138160" y="3520439"/>
            <a:ext cx="3657600" cy="71323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3520439"/>
            <a:ext cx="59436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3584448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어세이 타입 결정 → qPCR / Multiplex 선택 근거</a:t>
            </a:r>
          </a:p>
        </p:txBody>
      </p:sp>
      <p:sp>
        <p:nvSpPr>
          <p:cNvPr id="43" name="Smiley Face 42"/>
          <p:cNvSpPr/>
          <p:nvPr/>
        </p:nvSpPr>
        <p:spPr>
          <a:xfrm>
            <a:off x="8138160" y="4343400"/>
            <a:ext cx="3657600" cy="71323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4343400"/>
            <a:ext cx="59436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4407408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Tm 기준 파악 → Advanced Options 설정값 참고</a:t>
            </a:r>
          </a:p>
        </p:txBody>
      </p:sp>
      <p:sp>
        <p:nvSpPr>
          <p:cNvPr id="46" name="Smiley Face 45"/>
          <p:cNvSpPr/>
          <p:nvPr/>
        </p:nvSpPr>
        <p:spPr>
          <a:xfrm>
            <a:off x="274320" y="6446520"/>
            <a:ext cx="11612880" cy="658368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6446520"/>
            <a:ext cx="59436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6537959"/>
            <a:ext cx="11384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Phase 1은 분석 방향을 결정하는 단계입니다. 탐색 없이 바로 Phase 3으로 넘어가면 FASTA 구성 실수로 재작업이 생길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