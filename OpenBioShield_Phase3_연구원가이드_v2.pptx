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1E293B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Phase 3  |  시약 연구원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02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AI 기반 어세이 자동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</a:rPr>
              <a:t>9단계 파이프라인  ·  AI 효율 점수  ·  HTML/PDF 보고서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572000"/>
            <a:ext cx="320040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9단계 자동화 파이프라인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FASTA 업로드부터 HTML/PDF 보고서까지 — 분 단위 완료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97280"/>
            <a:ext cx="1170432" cy="2286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97280"/>
            <a:ext cx="117043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1188720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188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5" y="166420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MSA
정렬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5" y="23042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MAFFT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20116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36776" y="1097280"/>
            <a:ext cx="1170432" cy="2286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36776" y="1097280"/>
            <a:ext cx="117043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29968" y="1188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1188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73352" y="166420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보존
영역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23042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Shannon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8" y="20116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53512" y="1097280"/>
            <a:ext cx="1170432" cy="2286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53512" y="1097280"/>
            <a:ext cx="1170432" cy="54864"/>
          </a:xfrm>
          <a:prstGeom prst="rect">
            <a:avLst/>
          </a:prstGeom>
          <a:solidFill>
            <a:srgbClr val="791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346704" y="1188720"/>
            <a:ext cx="384048" cy="384048"/>
          </a:xfrm>
          <a:prstGeom prst="ellipse">
            <a:avLst/>
          </a:prstGeom>
          <a:solidFill>
            <a:srgbClr val="791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46704" y="1188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0088" y="166420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후보
생성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0088" y="23042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Primer3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23944" y="20116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0248" y="1097280"/>
            <a:ext cx="1170432" cy="2286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70248" y="1097280"/>
            <a:ext cx="1170432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63440" y="1188720"/>
            <a:ext cx="384048" cy="384048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40" y="1188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6824" y="166420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특이성
필터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06824" y="23042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Off-target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20116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86983" y="1097280"/>
            <a:ext cx="1170432" cy="2286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86983" y="1097280"/>
            <a:ext cx="1170432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980175" y="1188720"/>
            <a:ext cx="384048" cy="384048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80175" y="1188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59" y="166420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커버리지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59" y="23042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변이 대응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57416" y="20116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03719" y="1097280"/>
            <a:ext cx="1170432" cy="2286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903719" y="1097280"/>
            <a:ext cx="1170432" cy="54864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296911" y="1188720"/>
            <a:ext cx="384048" cy="384048"/>
          </a:xfrm>
          <a:prstGeom prst="ellipse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96911" y="1188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0295" y="166420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열역학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0295" y="23042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Tm·GC·이합체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74151" y="20116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0456" y="1097280"/>
            <a:ext cx="1170432" cy="2286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0456" y="1097280"/>
            <a:ext cx="117043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613648" y="1188720"/>
            <a:ext cx="384048" cy="38404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13648" y="1188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7031" y="166420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점수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57031" y="23042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효율 예측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90888" y="20116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537192" y="1097280"/>
            <a:ext cx="1170432" cy="2286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537192" y="1097280"/>
            <a:ext cx="117043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9930384" y="1188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30384" y="1188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73767" y="166420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순위화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73767" y="23042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가중 점수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07624" y="2011680"/>
            <a:ext cx="164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53928" y="1097280"/>
            <a:ext cx="1170432" cy="2286000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853928" y="1097280"/>
            <a:ext cx="117043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1247119" y="1188720"/>
            <a:ext cx="384048" cy="3840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247119" y="118872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90503" y="166420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보고서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90503" y="23042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HTML·PDF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3547872"/>
            <a:ext cx="11548872" cy="2670048"/>
          </a:xfrm>
          <a:prstGeom prst="rect">
            <a:avLst/>
          </a:prstGeom>
          <a:solidFill>
            <a:srgbClr val="16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20040" y="3547872"/>
            <a:ext cx="54864" cy="2670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2920" y="3657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시약 연구원이 집중할 단계</a:t>
            </a:r>
          </a:p>
        </p:txBody>
      </p:sp>
      <p:sp>
        <p:nvSpPr>
          <p:cNvPr id="74" name="Oval 73"/>
          <p:cNvSpPr/>
          <p:nvPr/>
        </p:nvSpPr>
        <p:spPr>
          <a:xfrm>
            <a:off x="502920" y="416052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12064" y="41605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Step 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10512" y="41605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FASTA 파일 품질 — 서열 수가 많을수록 커버리지 정확도 향상 (20개 이상 권장)</a:t>
            </a:r>
          </a:p>
        </p:txBody>
      </p:sp>
      <p:sp>
        <p:nvSpPr>
          <p:cNvPr id="77" name="Oval 76"/>
          <p:cNvSpPr/>
          <p:nvPr/>
        </p:nvSpPr>
        <p:spPr>
          <a:xfrm>
            <a:off x="502920" y="4663440"/>
            <a:ext cx="320040" cy="32004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2064" y="46634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A5E9"/>
                </a:solidFill>
              </a:rPr>
              <a:t>Step 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10512" y="46634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커버리지 점수 — 80% 이상 후보만 실험 대상으로 선정 권장</a:t>
            </a:r>
          </a:p>
        </p:txBody>
      </p:sp>
      <p:sp>
        <p:nvSpPr>
          <p:cNvPr id="80" name="Oval 79"/>
          <p:cNvSpPr/>
          <p:nvPr/>
        </p:nvSpPr>
        <p:spPr>
          <a:xfrm>
            <a:off x="502920" y="5166360"/>
            <a:ext cx="320040" cy="320040"/>
          </a:xfrm>
          <a:prstGeom prst="ellipse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12064" y="5166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4727E"/>
                </a:solidFill>
              </a:rPr>
              <a:t>Step 6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10512" y="51663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Tm 균형 — 포워드/리버스 Tm 차이 ±2°C 이내 후보 우선 선택</a:t>
            </a:r>
          </a:p>
        </p:txBody>
      </p:sp>
      <p:sp>
        <p:nvSpPr>
          <p:cNvPr id="83" name="Oval 82"/>
          <p:cNvSpPr/>
          <p:nvPr/>
        </p:nvSpPr>
        <p:spPr>
          <a:xfrm>
            <a:off x="502920" y="566928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2064" y="56692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Step 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10512" y="56692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AI 점수 근거 — 점수 낮은 이유를 보고서에서 클릭해 원인 파악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FASTA 업로드 &amp; 파라미터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좋은 입력이 좋은 결과를 만듭니다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789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FASTA 파일 요건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5577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08760"/>
            <a:ext cx="54864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7276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권장 서열 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57276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20개 이상 — 커버리지 통계 신뢰도 확보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21991"/>
            <a:ext cx="5577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221991"/>
            <a:ext cx="54864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2860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서열 길이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28600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분석 타겟 유전자 전체 포함 (트리밍 불필요)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35224"/>
            <a:ext cx="5577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35224"/>
            <a:ext cx="54864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99923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헤더 형식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2999232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&gt;샘플명  또는  &gt;accession_번호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48456"/>
            <a:ext cx="5577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648456"/>
            <a:ext cx="54864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12463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주의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712463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중복 서열 포함 시 커버리지 과대 계산 가능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361688"/>
            <a:ext cx="5577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361688"/>
            <a:ext cx="54864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4256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주의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4425696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갭(-) 문자는 자동 제거 처리됨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107899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어세이 타입 선택 가이드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508760"/>
            <a:ext cx="576072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1508760"/>
            <a:ext cx="54864" cy="13533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16002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qPCR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039112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정량 분석 · 형광 탐침 불필요
제품 크기 80–200 bp 자동 최적화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990088"/>
            <a:ext cx="576072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2990088"/>
            <a:ext cx="54864" cy="1353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081528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</a:rPr>
              <a:t>Multiplex qPCR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52044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TaqMan 프로브 자동 설계 포함
여러 타겟 동시 검출 시 선택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4471416"/>
            <a:ext cx="576072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80760" y="4471416"/>
            <a:ext cx="54864" cy="13533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4562856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Standard PCR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5001768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겔 전기영동 확인용
제품 크기 제한 완화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6291072"/>
            <a:ext cx="54864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3825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동일 타겟의 여러 변이주(variants) FASTA를 함께 포함하면 커버리지 분석의 신뢰도가 크게 올라갑니다.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후보 프라이머 결과 목록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각 컬럼이 무엇을 의미하는지 이해해야 올바른 후보를 선택할 수 있습니다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45720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5" y="1106424"/>
            <a:ext cx="4023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순위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1078992"/>
            <a:ext cx="23774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1106424"/>
            <a:ext cx="232257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Forward 5'→3'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9544" y="1078992"/>
            <a:ext cx="23774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106424"/>
            <a:ext cx="232257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Reverse 5'→3'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14416" y="1078992"/>
            <a:ext cx="640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50992" y="1106424"/>
            <a:ext cx="5852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Tm Fwd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8" y="1078992"/>
            <a:ext cx="6400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1106424"/>
            <a:ext cx="585215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Tm Rev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078992"/>
            <a:ext cx="5486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86016" y="1106424"/>
            <a:ext cx="49377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GC%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25512" y="1078992"/>
            <a:ext cx="77724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2088" y="1106424"/>
            <a:ext cx="72237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커버리지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30183" y="1078992"/>
            <a:ext cx="68580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59" y="1106424"/>
            <a:ext cx="630936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AI점수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43415" y="1078992"/>
            <a:ext cx="74980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9991" y="1106424"/>
            <a:ext cx="694944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최종점수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1508760"/>
            <a:ext cx="4572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5" y="1536192"/>
            <a:ext cx="402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" y="1508760"/>
            <a:ext cx="237744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1536192"/>
            <a:ext cx="23225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</a:rPr>
              <a:t>ATGGCTAGCTAGC…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9544" y="1508760"/>
            <a:ext cx="237744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1536192"/>
            <a:ext cx="23225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</a:rPr>
              <a:t>CGATCGATCGAT…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14416" y="1508760"/>
            <a:ext cx="64008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50992" y="1536192"/>
            <a:ext cx="585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</a:rPr>
              <a:t>62.3°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1928" y="1508760"/>
            <a:ext cx="64008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18504" y="1536192"/>
            <a:ext cx="585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</a:rPr>
              <a:t>61.8°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1508760"/>
            <a:ext cx="54864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86016" y="1536192"/>
            <a:ext cx="4937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0F172A"/>
                </a:solidFill>
              </a:rPr>
              <a:t>52%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25512" y="1508760"/>
            <a:ext cx="77724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2088" y="1536192"/>
            <a:ext cx="722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6A34A"/>
                </a:solidFill>
              </a:rPr>
              <a:t>94.5%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30183" y="1508760"/>
            <a:ext cx="685800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59" y="1536192"/>
            <a:ext cx="630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6A34A"/>
                </a:solidFill>
              </a:rPr>
              <a:t>78.4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43415" y="1508760"/>
            <a:ext cx="749808" cy="438912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79991" y="1536192"/>
            <a:ext cx="6949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6A34A"/>
                </a:solidFill>
              </a:rPr>
              <a:t>88.2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1984248"/>
            <a:ext cx="4572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6615" y="2011680"/>
            <a:ext cx="402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" y="1984248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" y="2011680"/>
            <a:ext cx="23225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GCTAGCTAGCTAG…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9544" y="1984248"/>
            <a:ext cx="23774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246120" y="2011680"/>
            <a:ext cx="23225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TAGCTAGCTAGC…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14416" y="1984248"/>
            <a:ext cx="640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50992" y="2011680"/>
            <a:ext cx="585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60.1°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81928" y="1984248"/>
            <a:ext cx="6400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18504" y="2011680"/>
            <a:ext cx="585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61.2°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9440" y="1984248"/>
            <a:ext cx="5486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86016" y="2011680"/>
            <a:ext cx="4937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48%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525512" y="1984248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62088" y="2011680"/>
            <a:ext cx="722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87.3%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30183" y="1984248"/>
            <a:ext cx="685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66759" y="2011680"/>
            <a:ext cx="630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71.2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43415" y="1984248"/>
            <a:ext cx="749808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79991" y="2011680"/>
            <a:ext cx="6949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82.5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2459736"/>
            <a:ext cx="4572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56615" y="2487168"/>
            <a:ext cx="4023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04672" y="2459736"/>
            <a:ext cx="237744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" y="2487168"/>
            <a:ext cx="23225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CGATCGATCGATC…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9544" y="2459736"/>
            <a:ext cx="237744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46120" y="2487168"/>
            <a:ext cx="23225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ATCGATCGATCG…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14416" y="2459736"/>
            <a:ext cx="64008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50992" y="2487168"/>
            <a:ext cx="585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63.5°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81928" y="2459736"/>
            <a:ext cx="64008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18504" y="2487168"/>
            <a:ext cx="585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60.2°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49440" y="2459736"/>
            <a:ext cx="54864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86016" y="2487168"/>
            <a:ext cx="4937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55%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25512" y="2459736"/>
            <a:ext cx="77724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62088" y="2487168"/>
            <a:ext cx="72237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79.1%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30183" y="2459736"/>
            <a:ext cx="68580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66759" y="2487168"/>
            <a:ext cx="630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65.8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043415" y="2459736"/>
            <a:ext cx="749808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079991" y="2487168"/>
            <a:ext cx="69494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94A3B8"/>
                </a:solidFill>
              </a:rPr>
              <a:t>75.3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3383280"/>
            <a:ext cx="22402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20040" y="3383280"/>
            <a:ext cx="224028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3493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Tm (융해온도)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3931920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Fwd·Rev 차이 ±2°C 이내
차이 클수록 PCR 최적화 어려움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697480" y="3383280"/>
            <a:ext cx="22402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697480" y="3383280"/>
            <a:ext cx="22402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34640" y="3493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GC%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834640" y="3931920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40–60% 범위 이상
극단값은 비특이 결합 위험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74920" y="3383280"/>
            <a:ext cx="22402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74920" y="3383280"/>
            <a:ext cx="224028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212080" y="3493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커버리지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12080" y="3931920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입력 서열 중 증폭 가능 비율
80% 이상 후보 우선 선택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452360" y="3383280"/>
            <a:ext cx="22402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452360" y="3383280"/>
            <a:ext cx="2240280" cy="54864"/>
          </a:xfrm>
          <a:prstGeom prst="rect">
            <a:avLst/>
          </a:prstGeom>
          <a:solidFill>
            <a:srgbClr val="791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89520" y="3493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16FA"/>
                </a:solidFill>
              </a:rPr>
              <a:t>AI 점수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89520" y="3931920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설계 품질 예측 (0–100)
낮으면 근거 클릭해 원인 확인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829800" y="3383280"/>
            <a:ext cx="22402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829800" y="3383280"/>
            <a:ext cx="224028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966960" y="349300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최종 점수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966960" y="3931920"/>
            <a:ext cx="2011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</a:rPr>
              <a:t>커버리지·Tm·AI·특이성 가중합
실험 우선순위 결정 기준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20040" y="6291072"/>
            <a:ext cx="54864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63825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커버리지 80% 미만이면 Advanced Options → Max Mismatches를 3으로 높이거나 보존 영역 임계값을 낮춰보세요.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열역학 분석 &amp; AI 점수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실험 전 검증의 핵심 — Tm·GC·이합체 판독 기준과 AI 점수 근거 활용법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07899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열역학 분석 판독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508760"/>
            <a:ext cx="55778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08760"/>
            <a:ext cx="54864" cy="1353312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00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Tm (융해온도)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2996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qPCR 권장: 58–65°C
Fwd·Rev 차이 ≤2°C
Multiplex: 프로브 Tm = 프라이머 +5~10°C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990088"/>
            <a:ext cx="55778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990088"/>
            <a:ext cx="54864" cy="1353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08152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GC% 함량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11296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이상: 40–60%
3'-end 마지막 5nt: GC 2–3개 권장
GC 클램프 &gt;80% = 비특이 결합 위험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471416"/>
            <a:ext cx="5577840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471416"/>
            <a:ext cx="54864" cy="13533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56285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이합체·헤어핀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992624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ΔG &gt; -6 kcal/mol 권장
3'-end 이합체는 즉각 폐기
헤어핀 Tm &lt; 어닐링 온도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1078992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AI 점수 구성 (0–100점)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1481328"/>
            <a:ext cx="210312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50876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구성 요소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481328"/>
            <a:ext cx="137160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087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점수 영향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55480" y="1481328"/>
            <a:ext cx="210312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1508760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설명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1911095"/>
            <a:ext cx="21031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44768" y="195681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</a:rPr>
              <a:t>기본 점수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1911095"/>
            <a:ext cx="13716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19568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F172A"/>
                </a:solidFill>
              </a:rPr>
              <a:t>+60점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1911095"/>
            <a:ext cx="21031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195681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출발점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14015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44768" y="245973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GC% (양방향)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2414015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245973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최대 -16점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55480" y="2414015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245973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40–60% 벗어나면 감점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2916936"/>
            <a:ext cx="21031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44768" y="296265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Tm 균형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79" y="2916936"/>
            <a:ext cx="13716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296265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최대 -15점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55480" y="2916936"/>
            <a:ext cx="21031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0" y="296265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Tm차 1°C당 -3점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3419856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4768" y="346557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3'-end GC 클램프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79" y="3419856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346557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</a:rPr>
              <a:t>최대 -13점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55480" y="3419856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0" y="346557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너무 약/강하면 감점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3922776"/>
            <a:ext cx="21031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44768" y="396849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이중가닥 엔트로피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83879" y="3922776"/>
            <a:ext cx="13716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600" y="396849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6A34A"/>
                </a:solidFill>
              </a:rPr>
              <a:t>± 보정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55480" y="3922776"/>
            <a:ext cx="21031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601200" y="396849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복잡도 보너스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4425696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44768" y="447141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제품 크기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83879" y="4425696"/>
            <a:ext cx="1371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0" y="447141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563EB"/>
                </a:solidFill>
              </a:rPr>
              <a:t>± 5점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55480" y="4425696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01200" y="447141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80–200bp +5점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80760" y="4928616"/>
            <a:ext cx="21031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44768" y="497433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보존 영역 품질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83879" y="4928616"/>
            <a:ext cx="137160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0" y="497433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97706"/>
                </a:solidFill>
              </a:rPr>
              <a:t>최대 -10점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55480" y="4928616"/>
            <a:ext cx="21031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01200" y="4974336"/>
            <a:ext cx="2011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</a:rPr>
              <a:t>낮을수록 유리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544068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AI 점수별 실험 판단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80760" y="5852160"/>
            <a:ext cx="1417320" cy="71323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80760" y="5852160"/>
            <a:ext cx="14173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08192" y="5943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80점↑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08192" y="62544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바로 합성 주문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616952" y="5852160"/>
            <a:ext cx="1417320" cy="71323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616952" y="5852160"/>
            <a:ext cx="141732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644383" y="5943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60–80점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644383" y="62544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보완 확인 후 진행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53144" y="5852160"/>
            <a:ext cx="1417320" cy="71323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153144" y="5852160"/>
            <a:ext cx="141732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80576" y="5943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</a:rPr>
              <a:t>40–60점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180576" y="62544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설계 재검토 권장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689336" y="5852160"/>
            <a:ext cx="1417320" cy="71323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689336" y="5852160"/>
            <a:ext cx="14173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716767" y="59436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</a:rPr>
              <a:t>40점↓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16767" y="62544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</a:rPr>
              <a:t>재설계 필수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20040" y="6291072"/>
            <a:ext cx="54864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02920" y="63825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Tm 차이가 3°C를 넘으면 Gradient PCR로 최적 어닐링 온도를 찾거나 다음 순위 후보로 교체하세요.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HTML 보고서 활용법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보고서의 각 섹션을 언제 어떻게 사용하는지 알면 실험 효율이 올라갑니다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2852928" cy="4919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2852928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요약 테이블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40"/>
            <a:ext cx="2606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상위 후보 전체 수치 한눈에 비교
최종 점수 기준 우선순위 확인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3383280"/>
            <a:ext cx="2724912" cy="2423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930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사용 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합성 주문 후보 결정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1078992"/>
            <a:ext cx="2852928" cy="4919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0128" y="1078992"/>
            <a:ext cx="285292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8" y="1188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</a:rPr>
              <a:t>서열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1691640"/>
            <a:ext cx="2606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Forward·Reverse 전체 서열 복사
프로브 서열 (Multiplex 시)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74136" y="3383280"/>
            <a:ext cx="2724912" cy="2423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3008" y="34930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사용 시점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38862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합성 발주 시 복사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0216" y="1078992"/>
            <a:ext cx="2852928" cy="4919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0216" y="1078992"/>
            <a:ext cx="2852928" cy="54864"/>
          </a:xfrm>
          <a:prstGeom prst="rect">
            <a:avLst/>
          </a:prstGeom>
          <a:solidFill>
            <a:srgbClr val="791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7376" y="1188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916FA"/>
                </a:solidFill>
              </a:rPr>
              <a:t>AI 점수 근거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7376" y="1691640"/>
            <a:ext cx="2606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후보 클릭 → 점수 성분별 분해
어느 특성이 점수 낮췄는지 파악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4224" y="3383280"/>
            <a:ext cx="2724912" cy="2423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83096" y="34930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916FA"/>
                </a:solidFill>
              </a:rPr>
              <a:t>사용 시점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3096" y="38862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점수 낮은 이유 파악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90304" y="1078992"/>
            <a:ext cx="2852928" cy="4919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90304" y="1078992"/>
            <a:ext cx="2852928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27464" y="118872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PDF 다운로드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7464" y="1691640"/>
            <a:ext cx="2606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9"/>
                </a:solidFill>
              </a:rPr>
              <a:t>보고서 전체 PDF 저장
ELN 첨부·팀 공유용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54312" y="3383280"/>
            <a:ext cx="2724912" cy="2423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73184" y="3493008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7706"/>
                </a:solidFill>
              </a:rPr>
              <a:t>사용 시점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73184" y="388620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기록 보관·공유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6291072"/>
            <a:ext cx="11548872" cy="4572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6291072"/>
            <a:ext cx="54864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382512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HTML 보고서는 브라우저만 있으면 인터넷 없이도 열립니다. 파일로 전달 시 수신자도 동일하게 확인 가능합니다.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4592"/>
            <a:ext cx="10515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실험 전 최종 체크리스트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5836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프라이머 합성 발주 전 반드시 확인할 8가지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078992"/>
            <a:ext cx="57607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078992"/>
            <a:ext cx="54864" cy="1207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" y="1216151"/>
            <a:ext cx="347472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19" y="121615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커버리지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1645919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선택 후보 커버리지 ≥ 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" y="1956815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→ 낮으면 Max Mismatches 완화 또는 Multiplex 고려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04872"/>
            <a:ext cx="57607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404872"/>
            <a:ext cx="54864" cy="1207008"/>
          </a:xfrm>
          <a:prstGeom prst="rect">
            <a:avLst/>
          </a:prstGeom>
          <a:solidFill>
            <a:srgbClr val="F47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" y="2542032"/>
            <a:ext cx="347472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19" y="25420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7E"/>
                </a:solidFill>
              </a:rPr>
              <a:t>Tm 균형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29718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Fwd·Rev Tm 차이 ≤ 2°C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328269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→ 차이 크면 Gradient PCR 최적화 후 결정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730752"/>
            <a:ext cx="57607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730752"/>
            <a:ext cx="54864" cy="1207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" y="3867912"/>
            <a:ext cx="347472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38679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</a:rPr>
              <a:t>GC%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" y="429768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양 프라이머 모두 40–60%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60857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→ 극단값은 비특이 결합·이합체 위험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056631"/>
            <a:ext cx="57607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5056631"/>
            <a:ext cx="54864" cy="1207008"/>
          </a:xfrm>
          <a:prstGeom prst="rect">
            <a:avLst/>
          </a:prstGeom>
          <a:solidFill>
            <a:srgbClr val="791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" y="5193792"/>
            <a:ext cx="347472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19" y="51937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916FA"/>
                </a:solidFill>
              </a:rPr>
              <a:t>AI 점수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5623559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최종 선택 AI 점수 ≥ 60점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5934455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→ 낮으면 보고서 AI 근거 섹션에서 원인 확인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59" y="1078992"/>
            <a:ext cx="57607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59" y="1078992"/>
            <a:ext cx="54864" cy="1207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73951" y="1216151"/>
            <a:ext cx="347472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1216151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이합체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3951" y="1645919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3'-end 이합체 ΔG &gt; -6 kcal/mol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73951" y="1956815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→ 이합체 안정적이면 PCR artifact 발생 위험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59" y="2404872"/>
            <a:ext cx="57607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59" y="2404872"/>
            <a:ext cx="54864" cy="12070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73951" y="2542032"/>
            <a:ext cx="347472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25420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제품 크기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1" y="297180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qPCR: 80–200 bp  /  PCR: 목적 크기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1" y="328269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→ 크기 &gt;250bp이면 qPCR 효율 급락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59" y="3730752"/>
            <a:ext cx="57607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9359" y="3730752"/>
            <a:ext cx="54864" cy="1207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73951" y="3867912"/>
            <a:ext cx="347472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49440" y="38679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서열 중복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1" y="4297680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유사 서열 후보 중복 발주 없는지 확인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1" y="460857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→ 이웃한 후보는 서열이 거의 동일할 수 있음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09359" y="5056631"/>
            <a:ext cx="576072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59" y="5056631"/>
            <a:ext cx="54864" cy="12070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73951" y="5193792"/>
            <a:ext cx="347472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0" y="51937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</a:rPr>
              <a:t>보고서 저장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3951" y="5623559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PDF·HTML 보고서 ELN 첨부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3951" y="5934455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</a:rPr>
              <a:t>→ 재현성·규제 문서화 요건 대응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