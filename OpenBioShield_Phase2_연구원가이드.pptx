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통계 검증 &amp;
위험도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EE7B7"/>
                </a:solidFill>
              </a:rPr>
              <a:t>CLSI EP05/EP09 · PFPS 위험도 엔진 · 데이터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시약 연구원을 위한 기능 사용 가이드</a:t>
            </a:r>
          </a:p>
        </p:txBody>
      </p:sp>
      <p:sp>
        <p:nvSpPr>
          <p:cNvPr id="8" name="Smiley Face 7"/>
          <p:cNvSpPr/>
          <p:nvPr/>
        </p:nvSpPr>
        <p:spPr>
          <a:xfrm>
            <a:off x="8778240" y="137160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371600"/>
            <a:ext cx="59436" cy="1188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5727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CLSI 통계 검증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8778240" y="278892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2788920"/>
            <a:ext cx="59436" cy="1188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880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9900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PFPS 위험도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8778240" y="4206240"/>
            <a:ext cx="310896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4206240"/>
            <a:ext cx="59436" cy="1188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4074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데이터 수집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Phase 2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3개 화면으로 구성된 검증 &amp; 위험도 워크플로우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298448"/>
            <a:ext cx="384048" cy="38404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</a:rPr>
              <a:t>📊 CLSI 통계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정밀도·재현성 공식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EP05: 반복성·재현성 분산분석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EP09: 방법비교 Deming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AI 보고서 자동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결과 DB 자동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0A5FA"/>
                </a:solidFill>
              </a:rPr>
              <a:t>➜</a:t>
            </a:r>
          </a:p>
        </p:txBody>
      </p:sp>
      <p:sp>
        <p:nvSpPr>
          <p:cNvPr id="17" name="Smiley Face 16"/>
          <p:cNvSpPr/>
          <p:nvPr/>
        </p:nvSpPr>
        <p:spPr>
          <a:xfrm>
            <a:off x="4251959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188720"/>
            <a:ext cx="3749039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1298448"/>
            <a:ext cx="384048" cy="384048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27E"/>
                </a:solidFill>
              </a:rPr>
              <a:t>⚠️ PFPS 위험도 엔진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프라이머-변이 충돌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변이 위치 거리 기반 위험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3단계 위험등급 (HIGH/MEDIUM/LOW)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GPT-4o 서술형 설명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왓슨-크릭 결합 시뮬레이션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727E"/>
                </a:solidFill>
              </a:rPr>
              <a:t>➜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8229600" y="1188720"/>
            <a:ext cx="3749039" cy="51663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1298448"/>
            <a:ext cx="384048" cy="38404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131673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3075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18CF8"/>
                </a:solidFill>
              </a:rPr>
              <a:t>🗄️ 데이터 수집 현황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모델 훈련 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240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수집된 검증 레코드 통계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986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질환·가이드라인별 분포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55701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Fine-tuning 준비도 지표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2153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연구원 피드백 집계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Phase 2는 기존 프라이머·키트를 검증하는 단계입니다. CLSI 가이드라인 준수 여부를 확인하고 위험도를 문서화합니다.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화면 1  |  CLSI EP05 — 정밀도(반복성·재현성)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데이터 업로드 한 번으로 ANOVA·CV 자동 계산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⚙️  EP05 분석 단계별 가이드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4708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1920240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9385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Excel 파일 업로드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CLSI EP05 형식 데이터 파일 드래그&amp;드롭
(샘플×반복×재현 측정값 포함)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411480" y="2651760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724912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74320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컬럼 매핑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0906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AI가 자동 감지한 컬럼 할당 검토
잘못된 경우 드롭다운으로 직접 수정</a:t>
            </a:r>
          </a:p>
        </p:txBody>
      </p:sp>
      <p:sp>
        <p:nvSpPr>
          <p:cNvPr id="18" name="Smiley Face 17"/>
          <p:cNvSpPr/>
          <p:nvPr/>
        </p:nvSpPr>
        <p:spPr>
          <a:xfrm>
            <a:off x="411480" y="3456432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529584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5478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29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분석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953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EP05 버튼 클릭 → ANOVA, CV%, 그랜드 평균 자동 계산
완료까지 약 5–10초</a:t>
            </a:r>
          </a:p>
        </p:txBody>
      </p:sp>
      <p:sp>
        <p:nvSpPr>
          <p:cNvPr id="23" name="Smiley Face 22"/>
          <p:cNvSpPr/>
          <p:nvPr/>
        </p:nvSpPr>
        <p:spPr>
          <a:xfrm>
            <a:off x="411480" y="4261104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2920" y="4334256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3525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334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AI 보고서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7000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한국어·영어 토글 가능한 AI 생성 마크다운 보고서
판정 근거·개선 권장사항 포함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411480" y="5065776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5138928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515721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DB 자동 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50468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분석 결과가 Supabase에 자동 저장
Phase 2 데이터 수집 화면에서 누적 확인</a:t>
            </a:r>
          </a:p>
        </p:txBody>
      </p:sp>
      <p:sp>
        <p:nvSpPr>
          <p:cNvPr id="33" name="Smiley Face 32"/>
          <p:cNvSpPr/>
          <p:nvPr/>
        </p:nvSpPr>
        <p:spPr>
          <a:xfrm>
            <a:off x="5897880" y="1188720"/>
            <a:ext cx="5989320" cy="25603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📊  EP05 결과 수치 해석</a:t>
            </a:r>
          </a:p>
        </p:txBody>
      </p:sp>
      <p:sp>
        <p:nvSpPr>
          <p:cNvPr id="35" name="Smiley Face 34"/>
          <p:cNvSpPr/>
          <p:nvPr/>
        </p:nvSpPr>
        <p:spPr>
          <a:xfrm>
            <a:off x="6035040" y="1810512"/>
            <a:ext cx="571500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810512"/>
            <a:ext cx="59436" cy="4937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1856231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반복성 CV%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856231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&lt; 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1856231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동일 기기 반복 측정 정밀도</a:t>
            </a:r>
          </a:p>
        </p:txBody>
      </p:sp>
      <p:sp>
        <p:nvSpPr>
          <p:cNvPr id="40" name="Smiley Face 39"/>
          <p:cNvSpPr/>
          <p:nvPr/>
        </p:nvSpPr>
        <p:spPr>
          <a:xfrm>
            <a:off x="6035040" y="2377440"/>
            <a:ext cx="571500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377440"/>
            <a:ext cx="59436" cy="4937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42316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재현성 CV%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24231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&lt; 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242316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다일·다기기 간 재현성</a:t>
            </a:r>
          </a:p>
        </p:txBody>
      </p:sp>
      <p:sp>
        <p:nvSpPr>
          <p:cNvPr id="45" name="Smiley Face 44"/>
          <p:cNvSpPr/>
          <p:nvPr/>
        </p:nvSpPr>
        <p:spPr>
          <a:xfrm>
            <a:off x="6035040" y="2944368"/>
            <a:ext cx="571500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944368"/>
            <a:ext cx="59436" cy="4937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2990087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ANOVA F-값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299008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 &lt; 0.05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299008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측정 그룹 간 유의한 차이 여부</a:t>
            </a:r>
          </a:p>
        </p:txBody>
      </p:sp>
      <p:sp>
        <p:nvSpPr>
          <p:cNvPr id="50" name="Smiley Face 49"/>
          <p:cNvSpPr/>
          <p:nvPr/>
        </p:nvSpPr>
        <p:spPr>
          <a:xfrm>
            <a:off x="6035040" y="3511296"/>
            <a:ext cx="5715000" cy="493776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3511296"/>
            <a:ext cx="59436" cy="4937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557015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그랜드 평균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557015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기준값 ±5%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557015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전체 측정값 중심 경향</a:t>
            </a:r>
          </a:p>
        </p:txBody>
      </p:sp>
      <p:sp>
        <p:nvSpPr>
          <p:cNvPr id="55" name="Smiley Face 54"/>
          <p:cNvSpPr/>
          <p:nvPr/>
        </p:nvSpPr>
        <p:spPr>
          <a:xfrm>
            <a:off x="5897880" y="3931920"/>
            <a:ext cx="5989320" cy="2331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40416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✅  합격/불합격 판정 기준</a:t>
            </a:r>
          </a:p>
        </p:txBody>
      </p:sp>
      <p:sp>
        <p:nvSpPr>
          <p:cNvPr id="57" name="Smiley Face 56"/>
          <p:cNvSpPr/>
          <p:nvPr/>
        </p:nvSpPr>
        <p:spPr>
          <a:xfrm>
            <a:off x="6035040" y="4553712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40" y="4553712"/>
            <a:ext cx="59436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45902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반복성 CV &lt; 5%  AND  재현성 CV &lt; 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45902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합격 — 다음 단계 진행</a:t>
            </a:r>
          </a:p>
        </p:txBody>
      </p:sp>
      <p:sp>
        <p:nvSpPr>
          <p:cNvPr id="61" name="Smiley Face 60"/>
          <p:cNvSpPr/>
          <p:nvPr/>
        </p:nvSpPr>
        <p:spPr>
          <a:xfrm>
            <a:off x="6035040" y="5120640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5120640"/>
            <a:ext cx="59436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1572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반복성 CV 5–10% OR  재현성 CV 10–15%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51572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조건부 합격 — 추가 검증</a:t>
            </a:r>
          </a:p>
        </p:txBody>
      </p:sp>
      <p:sp>
        <p:nvSpPr>
          <p:cNvPr id="65" name="Smiley Face 64"/>
          <p:cNvSpPr/>
          <p:nvPr/>
        </p:nvSpPr>
        <p:spPr>
          <a:xfrm>
            <a:off x="6035040" y="5687568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35040" y="5687568"/>
            <a:ext cx="59436" cy="50292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5724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CV &gt; 15% 또는 ANOVA p &gt; 0.05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572414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7E"/>
                </a:solidFill>
              </a:rPr>
              <a:t>불합격 — 프로토콜 재검토</a:t>
            </a:r>
          </a:p>
        </p:txBody>
      </p:sp>
      <p:sp>
        <p:nvSpPr>
          <p:cNvPr id="69" name="Smiley Face 68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재현성 CV가 10%를 초과하면 PFPS 위험도 엔진에서 자동으로 HIGH 위험으로 분류됩니다. CV 결과를 반드시 위험도 분석과 연계하세요.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화면 1  |  CLSI EP09 — 방법비교(Method Comparison)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신규 진단법 vs 기준법 — 동등성 통계 검증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📐  EP09 분석 항목 및 해석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74519"/>
            <a:ext cx="5120640" cy="126187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9436" cy="12618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Deming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기울기 1±0.1, 절편 0±10%
→ 두 방법이 측정값 스케일이 동일한지 확인
기울기가 1에서 멀수록 비례 오차 존재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3264408"/>
            <a:ext cx="5120640" cy="126187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264408"/>
            <a:ext cx="59436" cy="12618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284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Bland-Altman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6732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평균 차이(Bias) ±5% 이내
→ 두 방법 간 체계적 차이 시각화
95% 일치구간 확인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4654296"/>
            <a:ext cx="5120640" cy="1261872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654296"/>
            <a:ext cx="59436" cy="12618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183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Pearson 상관계수(r)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57216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 ≥ 0.95 합격 기준
→ 두 방법 간 선형 관련성 강도
0.90 미만이면 방법 재검토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5897880" y="1188720"/>
            <a:ext cx="598932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🔬  실무 활용 시나리오</a:t>
            </a:r>
          </a:p>
        </p:txBody>
      </p:sp>
      <p:sp>
        <p:nvSpPr>
          <p:cNvPr id="22" name="Smiley Face 21"/>
          <p:cNvSpPr/>
          <p:nvPr/>
        </p:nvSpPr>
        <p:spPr>
          <a:xfrm>
            <a:off x="6035040" y="1828800"/>
            <a:ext cx="5715000" cy="93268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59436" cy="9326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9280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신규 PCR 키트 허가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042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기준 방법(PCR Gold Standard)과 신규 키트 동시 측정
→ EP09 업로드 → r≥0.95, Bias±5% 확인
→ 허가 서류용 AI 보고서 다운로드</a:t>
            </a:r>
          </a:p>
        </p:txBody>
      </p:sp>
      <p:sp>
        <p:nvSpPr>
          <p:cNvPr id="26" name="Smiley Face 25"/>
          <p:cNvSpPr/>
          <p:nvPr/>
        </p:nvSpPr>
        <p:spPr>
          <a:xfrm>
            <a:off x="6035040" y="2880360"/>
            <a:ext cx="5715000" cy="93268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880360"/>
            <a:ext cx="59436" cy="9326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9443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장비 교체 동등성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558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구형 장비 vs 신형 장비 동일 샘플 측정
→ Deming 기울기 확인
→ 기울기 1.0±0.1이면 교체 승인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035040" y="3931920"/>
            <a:ext cx="5715000" cy="93268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3931920"/>
            <a:ext cx="59436" cy="9326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99592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플랫폼 간 비교 (POC vs Lab)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4074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현장 검사 장비(POC)와 검사실 표준 장비 비교
→ Bland-Altman Bias 확인
→ 허용 오차 범위 내이면 POC 도입 승인</a:t>
            </a:r>
          </a:p>
        </p:txBody>
      </p:sp>
      <p:sp>
        <p:nvSpPr>
          <p:cNvPr id="34" name="Smiley Face 33"/>
          <p:cNvSpPr/>
          <p:nvPr/>
        </p:nvSpPr>
        <p:spPr>
          <a:xfrm>
            <a:off x="6035040" y="4983479"/>
            <a:ext cx="5715000" cy="932688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4983479"/>
            <a:ext cx="59436" cy="9326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0474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시약 로트 변경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45896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기존 로트 vs 신규 로트 비교
→ 기울기·절편 범위 내 확인
→ 품질관리 문서 자동 생성</a:t>
            </a:r>
          </a:p>
        </p:txBody>
      </p:sp>
      <p:sp>
        <p:nvSpPr>
          <p:cNvPr id="38" name="Smiley Face 37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AI 보고서는 한국어·영어 전환이 가능합니다. 허가 신청 시 영어 버전을 출력하면 해외 규제 제출 자료로 바로 활용할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화면 2  |  PFPS 위험도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프라이머-변이 충돌 위험을 점수로 수치화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⚠️  PFPS란?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Primer Fitness Position Score
변이 위치가 프라이머 결합 구간과 얼마나 가까운지를
거리 가중치로 계산한 위험 점수입니다.
3'-end(3 프라임 말단)에 가까울수록 PCR 실패 위험이
기하급수적으로 높아집니다.</a:t>
            </a:r>
          </a:p>
        </p:txBody>
      </p:sp>
      <p:sp>
        <p:nvSpPr>
          <p:cNvPr id="9" name="Smiley Face 8"/>
          <p:cNvSpPr/>
          <p:nvPr/>
        </p:nvSpPr>
        <p:spPr>
          <a:xfrm>
            <a:off x="411480" y="3520440"/>
            <a:ext cx="5120640" cy="8229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520440"/>
            <a:ext cx="59436" cy="82296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0–3 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3'-end 내부</a:t>
            </a:r>
          </a:p>
        </p:txBody>
      </p:sp>
      <p:sp>
        <p:nvSpPr>
          <p:cNvPr id="13" name="Smiley Face 12"/>
          <p:cNvSpPr/>
          <p:nvPr/>
        </p:nvSpPr>
        <p:spPr>
          <a:xfrm>
            <a:off x="3017520" y="3566160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361187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7763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증폭 실패 확률 매우 높음
즉각적 재설계 필요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4434840"/>
            <a:ext cx="5120640" cy="8229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434840"/>
            <a:ext cx="59436" cy="8229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4–15 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결합 중간 부위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3017520" y="4480560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39" y="45262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92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증폭 효율 저하 가능
Tm 저하, Gradient PCR 고려</a:t>
            </a:r>
          </a:p>
        </p:txBody>
      </p:sp>
      <p:sp>
        <p:nvSpPr>
          <p:cNvPr id="23" name="Smiley Face 22"/>
          <p:cNvSpPr/>
          <p:nvPr/>
        </p:nvSpPr>
        <p:spPr>
          <a:xfrm>
            <a:off x="411480" y="5349240"/>
            <a:ext cx="5120640" cy="8229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349240"/>
            <a:ext cx="59436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949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16+ 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94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결합 외곽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3017520" y="5394960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5440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064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영향 미미
모니터링 수준 유지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5897880" y="1188720"/>
            <a:ext cx="5989320" cy="242316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📋  결과 화면 구성 요소</a:t>
            </a:r>
          </a:p>
        </p:txBody>
      </p:sp>
      <p:sp>
        <p:nvSpPr>
          <p:cNvPr id="32" name="Smiley Face 31"/>
          <p:cNvSpPr/>
          <p:nvPr/>
        </p:nvSpPr>
        <p:spPr>
          <a:xfrm>
            <a:off x="6035040" y="1810512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1810512"/>
            <a:ext cx="59436" cy="420624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8470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7E"/>
                </a:solidFill>
              </a:rPr>
              <a:t>위험도 등급 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18470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HIGH/MEDIUM/LOW 색상 배지 + 수치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6035040" y="2286000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286000"/>
            <a:ext cx="59436" cy="42062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3225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결합 시뮬레이션 그림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3225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프라이머↔타겟 서열 정렬 표시</a:t>
            </a:r>
          </a:p>
        </p:txBody>
      </p:sp>
      <p:sp>
        <p:nvSpPr>
          <p:cNvPr id="40" name="Smiley Face 39"/>
          <p:cNvSpPr/>
          <p:nvPr/>
        </p:nvSpPr>
        <p:spPr>
          <a:xfrm>
            <a:off x="6035040" y="2761488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761488"/>
            <a:ext cx="59436" cy="42062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798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GPT-4o 설명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980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위험 원인·개선 방향 서술형 해설</a:t>
            </a:r>
          </a:p>
        </p:txBody>
      </p:sp>
      <p:sp>
        <p:nvSpPr>
          <p:cNvPr id="44" name="Smiley Face 43"/>
          <p:cNvSpPr/>
          <p:nvPr/>
        </p:nvSpPr>
        <p:spPr>
          <a:xfrm>
            <a:off x="6035040" y="3236976"/>
            <a:ext cx="5715000" cy="420624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236976"/>
            <a:ext cx="59436" cy="42062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2735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변이 위치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273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각 미스매치의 bp 거리·영향도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5897880" y="3794760"/>
            <a:ext cx="5989320" cy="246888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3904487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🔬  PFPS 결과 활용 판단 기준</a:t>
            </a:r>
          </a:p>
        </p:txBody>
      </p:sp>
      <p:sp>
        <p:nvSpPr>
          <p:cNvPr id="50" name="Smiley Face 49"/>
          <p:cNvSpPr/>
          <p:nvPr/>
        </p:nvSpPr>
        <p:spPr>
          <a:xfrm>
            <a:off x="6035040" y="4462272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4462272"/>
            <a:ext cx="59436" cy="50292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miley Face 51"/>
          <p:cNvSpPr/>
          <p:nvPr/>
        </p:nvSpPr>
        <p:spPr>
          <a:xfrm>
            <a:off x="6126480" y="4507992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5537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50799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즉각 재설계 → Phase 3으로 신규 프라이머 설계</a:t>
            </a:r>
          </a:p>
        </p:txBody>
      </p:sp>
      <p:sp>
        <p:nvSpPr>
          <p:cNvPr id="55" name="Smiley Face 54"/>
          <p:cNvSpPr/>
          <p:nvPr/>
        </p:nvSpPr>
        <p:spPr>
          <a:xfrm>
            <a:off x="6035040" y="5029200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35040" y="5029200"/>
            <a:ext cx="59436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miley Face 56"/>
          <p:cNvSpPr/>
          <p:nvPr/>
        </p:nvSpPr>
        <p:spPr>
          <a:xfrm>
            <a:off x="6126480" y="5074920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51206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50749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실험 진행 + Gradient PCR 병행 → 최적화 검증</a:t>
            </a:r>
          </a:p>
        </p:txBody>
      </p:sp>
      <p:sp>
        <p:nvSpPr>
          <p:cNvPr id="60" name="Smiley Face 59"/>
          <p:cNvSpPr/>
          <p:nvPr/>
        </p:nvSpPr>
        <p:spPr>
          <a:xfrm>
            <a:off x="6035040" y="5596128"/>
            <a:ext cx="5715000" cy="5029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5040" y="5596128"/>
            <a:ext cx="59436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miley Face 61"/>
          <p:cNvSpPr/>
          <p:nvPr/>
        </p:nvSpPr>
        <p:spPr>
          <a:xfrm>
            <a:off x="6126480" y="5641848"/>
            <a:ext cx="1188720" cy="384048"/>
          </a:xfrm>
          <a:prstGeom prst="smileyFace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56875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564184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사용 적합 — 분기별 변이 업데이트 확인 권장</a:t>
            </a:r>
          </a:p>
        </p:txBody>
      </p:sp>
      <p:sp>
        <p:nvSpPr>
          <p:cNvPr id="65" name="Smiley Face 64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재현성 CV &gt; 10% 이면 PFPS 엔진이 HIGH로 자동 에스컬레이션합니다. CLSI EP05 결과와 PFPS를 반드시 함께 확인하세요.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화면 3  |  데이터 수집 현황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검증 데이터 축적 → AI 모델 자동 개선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539496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📊  화면 구성 요소</a:t>
            </a:r>
          </a:p>
        </p:txBody>
      </p:sp>
      <p:sp>
        <p:nvSpPr>
          <p:cNvPr id="8" name="Smiley Face 7"/>
          <p:cNvSpPr/>
          <p:nvPr/>
        </p:nvSpPr>
        <p:spPr>
          <a:xfrm>
            <a:off x="411480" y="184708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59436" cy="7315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9280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수집 레코드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92807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EP05·EP09 분석 완료 시 자동 저장된
총 레코드 수 — 목표: 5,000건 이상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411480" y="267004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59436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질환별 분포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1576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SARS-CoV-2·HPV·STI 각 질환별
데이터 비율 도넛 차트</a:t>
            </a:r>
          </a:p>
        </p:txBody>
      </p:sp>
      <p:sp>
        <p:nvSpPr>
          <p:cNvPr id="16" name="Smiley Face 15"/>
          <p:cNvSpPr/>
          <p:nvPr/>
        </p:nvSpPr>
        <p:spPr>
          <a:xfrm>
            <a:off x="411480" y="349300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93008"/>
            <a:ext cx="59436" cy="73152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위험도 분포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5387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HIGH/MEDIUM/LOW 비율
치우침이 클 경우 데이터 균형화 필요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411480" y="431596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315968"/>
            <a:ext cx="59436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61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피드백 정확도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36168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연구원 피드백(accurate/partially/incorrect)
누적 집계 — AI 보고서 품질 지표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411480" y="5138928"/>
            <a:ext cx="5120640" cy="73152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138928"/>
            <a:ext cx="59436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846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Fine-tuning 준비도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18464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5,000건 도달률 진행 바
목표 달성 시 XGBoost 재학습 자동 알림</a:t>
            </a:r>
          </a:p>
        </p:txBody>
      </p:sp>
      <p:sp>
        <p:nvSpPr>
          <p:cNvPr id="28" name="Smiley Face 27"/>
          <p:cNvSpPr/>
          <p:nvPr/>
        </p:nvSpPr>
        <p:spPr>
          <a:xfrm>
            <a:off x="5897880" y="1188720"/>
            <a:ext cx="5989320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🔄  데이터 → AI 개선 사이클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035040" y="18288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26480" y="1892807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35624" y="1911095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1901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EP05·EP09 분석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9019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시약 연구원이 검증 데이터 업로드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459736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6035040" y="25146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0" y="2578608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25968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2587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결과 자동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5877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분석 결과가 Supabase DB에 적재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145536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6035040" y="32004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26480" y="3264408"/>
            <a:ext cx="292608" cy="2926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32826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3273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피드백 입력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3273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AI 보고서 정확도 평가 (3단계)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831335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6035040" y="38862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26480" y="3950208"/>
            <a:ext cx="292608" cy="292608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39684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3959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데이터 5,000건 도달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39593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Fine-tuning 준비 완료 알림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517136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54" name="Smiley Face 53"/>
          <p:cNvSpPr/>
          <p:nvPr/>
        </p:nvSpPr>
        <p:spPr>
          <a:xfrm>
            <a:off x="6035040" y="45720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26480" y="463600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46542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645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XGBoost 모델 재학습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46451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Phase 3 AI 점수 정확도 향상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202936"/>
            <a:ext cx="274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60" name="Smiley Face 59"/>
          <p:cNvSpPr/>
          <p:nvPr/>
        </p:nvSpPr>
        <p:spPr>
          <a:xfrm>
            <a:off x="6035040" y="5257800"/>
            <a:ext cx="5715000" cy="594360"/>
          </a:xfrm>
          <a:prstGeom prst="smileyFace">
            <a:avLst>
              <a:gd name="adj" fmla="val 5000"/>
            </a:avLst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26480" y="5321808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5624" y="53400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5330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더 정확한 자동 설계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60" y="53309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연구원 수작업 검토 시간 감소</a:t>
            </a:r>
          </a:p>
        </p:txBody>
      </p:sp>
      <p:sp>
        <p:nvSpPr>
          <p:cNvPr id="65" name="Smiley Face 64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분석 후 AI 보고서 피드백 버튼(accurate·partially·incorrect)을 반드시 클릭해주세요. 이 피드백이 AI 모델 개선의 핵심 데이터입니다.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규제 대응  |  Phase 2 결과의 문서화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식약처·CE·FDA 허가 대응 자료로 바로 활용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18872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🇰🇷  식약처
(MFDS)</a:t>
            </a:r>
          </a:p>
        </p:txBody>
      </p:sp>
      <p:sp>
        <p:nvSpPr>
          <p:cNvPr id="9" name="Smiley Face 8"/>
          <p:cNvSpPr/>
          <p:nvPr/>
        </p:nvSpPr>
        <p:spPr>
          <a:xfrm>
            <a:off x="2560320" y="1325880"/>
            <a:ext cx="1280160" cy="365760"/>
          </a:xfrm>
          <a:prstGeom prst="smileyFace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3716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IVD 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EP05: 정밀도 성능 자료 (GD-01)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00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EP09: 방법비교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3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AI 보고서 국문 출력 → 직접 첨부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4456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PFPS 위험도 근거 문서</a:t>
            </a:r>
          </a:p>
        </p:txBody>
      </p:sp>
      <p:sp>
        <p:nvSpPr>
          <p:cNvPr id="15" name="Smiley Face 14"/>
          <p:cNvSpPr/>
          <p:nvPr/>
        </p:nvSpPr>
        <p:spPr>
          <a:xfrm>
            <a:off x="4251959" y="118872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188720"/>
            <a:ext cx="3749039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2984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🇪🇺  CE-IVD
(IVDR)</a:t>
            </a:r>
          </a:p>
        </p:txBody>
      </p:sp>
      <p:sp>
        <p:nvSpPr>
          <p:cNvPr id="18" name="Smiley Face 17"/>
          <p:cNvSpPr/>
          <p:nvPr/>
        </p:nvSpPr>
        <p:spPr>
          <a:xfrm>
            <a:off x="6537959" y="1325880"/>
            <a:ext cx="1280160" cy="365760"/>
          </a:xfrm>
          <a:prstGeom prst="smileyFace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13716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18CF8"/>
                </a:solidFill>
              </a:rPr>
              <a:t>유럽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128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EP05 CV% 표 → Technical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00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EP09 Deming 회귀 그래프 → 영문 출력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7673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Statistical Summary 자동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4456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Risk Management 파일 첨부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8229600" y="1188720"/>
            <a:ext cx="3749039" cy="50749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188720"/>
            <a:ext cx="3749039" cy="7315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2984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27E"/>
                </a:solidFill>
              </a:rPr>
              <a:t>🇺🇸  FDA 510(k)
(EUA)</a:t>
            </a:r>
          </a:p>
        </p:txBody>
      </p:sp>
      <p:sp>
        <p:nvSpPr>
          <p:cNvPr id="27" name="Smiley Face 26"/>
          <p:cNvSpPr/>
          <p:nvPr/>
        </p:nvSpPr>
        <p:spPr>
          <a:xfrm>
            <a:off x="10515600" y="1325880"/>
            <a:ext cx="1280160" cy="365760"/>
          </a:xfrm>
          <a:prstGeom prst="smileyFace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19" y="13716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727E"/>
                </a:solidFill>
              </a:rPr>
              <a:t>미국 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128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Analytical Performance 섹션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900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Method Comparison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673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AI 보고서 영문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54456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›  Reproducibility Study 요약</a:t>
            </a:r>
          </a:p>
        </p:txBody>
      </p:sp>
      <p:sp>
        <p:nvSpPr>
          <p:cNvPr id="33" name="Smiley Face 32"/>
          <p:cNvSpPr/>
          <p:nvPr/>
        </p:nvSpPr>
        <p:spPr>
          <a:xfrm>
            <a:off x="274320" y="6446520"/>
            <a:ext cx="11612880" cy="658368"/>
          </a:xfrm>
          <a:prstGeom prst="smileyFace">
            <a:avLst>
              <a:gd name="adj" fmla="val 5000"/>
            </a:avLst>
          </a:prstGeom>
          <a:solidFill>
            <a:srgbClr val="2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6446520"/>
            <a:ext cx="59436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537959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💡  규제 제출용 문서는 반드시 영문 AI 보고서를 사용하세요. 분석 완료 후 언어 토글 버튼으로 즉시 전환 가능합니다.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463040" cy="5943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Phase 2 완료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다음 단계(Phase 3) 진행 전 반드시 확인</a:t>
            </a:r>
          </a:p>
        </p:txBody>
      </p:sp>
      <p:sp>
        <p:nvSpPr>
          <p:cNvPr id="6" name="Smiley Face 5"/>
          <p:cNvSpPr/>
          <p:nvPr/>
        </p:nvSpPr>
        <p:spPr>
          <a:xfrm>
            <a:off x="274320" y="1234440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9436" cy="1188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EP05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반복성 CV &lt; 5%,  재현성 CV &lt; 10% 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미달 시: 측정 조건 재검토 (온도, 검체 균질도) 후 재분석</a:t>
            </a:r>
          </a:p>
        </p:txBody>
      </p:sp>
      <p:sp>
        <p:nvSpPr>
          <p:cNvPr id="12" name="Smiley Face 11"/>
          <p:cNvSpPr/>
          <p:nvPr/>
        </p:nvSpPr>
        <p:spPr>
          <a:xfrm>
            <a:off x="274320" y="2532888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32888"/>
            <a:ext cx="59436" cy="1188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70048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4261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EP09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 ≥ 0.95, Deming 기울기 1.0±0.1, Bias &lt;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미달 시: 측정 범위·기준법 선정 재검토</a:t>
            </a:r>
          </a:p>
        </p:txBody>
      </p:sp>
      <p:sp>
        <p:nvSpPr>
          <p:cNvPr id="18" name="Smiley Face 17"/>
          <p:cNvSpPr/>
          <p:nvPr/>
        </p:nvSpPr>
        <p:spPr>
          <a:xfrm>
            <a:off x="274320" y="3831335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31335"/>
            <a:ext cx="59436" cy="1188720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47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4106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7E"/>
                </a:solidFill>
              </a:rPr>
              <a:t>PFPS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34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 위험 프라이머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00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HIGH 존재 시: Phase 3으로 해당 타겟 재설계 진행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274320" y="5129783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29783"/>
            <a:ext cx="59436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66944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39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AI 보고서 검토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32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보고서 내용 확인 후 피드백(accurate/partly/incorrect)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984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피드백 없으면 데이터 수집 카운트에서 제외됨</a:t>
            </a:r>
          </a:p>
        </p:txBody>
      </p:sp>
      <p:sp>
        <p:nvSpPr>
          <p:cNvPr id="30" name="Smiley Face 29"/>
          <p:cNvSpPr/>
          <p:nvPr/>
        </p:nvSpPr>
        <p:spPr>
          <a:xfrm>
            <a:off x="6309359" y="1234440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1234440"/>
            <a:ext cx="59436" cy="1188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371600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</a:rPr>
              <a:t>DB 저장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737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데이터 수집 화면에서 오늘 분석 레코드 수 증가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103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저장 실패 시: 네트워크 오류 — 재분석 또는 개발팀 문의</a:t>
            </a:r>
          </a:p>
        </p:txBody>
      </p:sp>
      <p:sp>
        <p:nvSpPr>
          <p:cNvPr id="36" name="Smiley Face 35"/>
          <p:cNvSpPr/>
          <p:nvPr/>
        </p:nvSpPr>
        <p:spPr>
          <a:xfrm>
            <a:off x="6309359" y="2532888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2532888"/>
            <a:ext cx="59436" cy="1188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670048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264261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문서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규제 제출용 PDF·AI 보고서 다운로드 및 ELN 첨부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4015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허가 신청 전 보고서 버전 관리 필수</a:t>
            </a:r>
          </a:p>
        </p:txBody>
      </p:sp>
      <p:sp>
        <p:nvSpPr>
          <p:cNvPr id="42" name="Smiley Face 41"/>
          <p:cNvSpPr/>
          <p:nvPr/>
        </p:nvSpPr>
        <p:spPr>
          <a:xfrm>
            <a:off x="6309359" y="3831335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3831335"/>
            <a:ext cx="59436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3968496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94106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Phase 3 준비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334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재설계 필요 타겟 목록 정리, FASTA 파일 구성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7000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Phase 1 DNA 맵에서 보존 영역 재확인 후 서열 수집</a:t>
            </a:r>
          </a:p>
        </p:txBody>
      </p:sp>
      <p:sp>
        <p:nvSpPr>
          <p:cNvPr id="48" name="Smiley Face 47"/>
          <p:cNvSpPr/>
          <p:nvPr/>
        </p:nvSpPr>
        <p:spPr>
          <a:xfrm>
            <a:off x="6309359" y="5129783"/>
            <a:ext cx="5760720" cy="1188720"/>
          </a:xfrm>
          <a:prstGeom prst="smileyFace">
            <a:avLst>
              <a:gd name="adj" fmla="val 5000"/>
            </a:avLst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59" y="5129783"/>
            <a:ext cx="59436" cy="1188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5266944"/>
            <a:ext cx="274320" cy="274320"/>
          </a:xfrm>
          <a:prstGeom prst="rect">
            <a:avLst/>
          </a:prstGeom>
          <a:solidFill>
            <a:srgbClr val="162234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239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팀 공유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6327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분석 결과 공유 — 이메일 또는 Slack에 PDF 첨부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9984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→ 보고서 링크 대신 PDF 파일 첨부 권장 (클라우드 접근 불가 환경 대비)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