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OpenBioShield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6EE7B7"/>
                </a:solidFill>
              </a:rPr>
              <a:t>AI 기반 분자진단 어세이 자동 설계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383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</a:rPr>
              <a:t>2026년 상반기 성과 보고</a:t>
            </a:r>
          </a:p>
        </p:txBody>
      </p:sp>
      <p:sp>
        <p:nvSpPr>
          <p:cNvPr id="7" name="Oval 6"/>
          <p:cNvSpPr/>
          <p:nvPr/>
        </p:nvSpPr>
        <p:spPr>
          <a:xfrm>
            <a:off x="8961120" y="914400"/>
            <a:ext cx="2926080" cy="2926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0" y="1280160"/>
            <a:ext cx="2194560" cy="219456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7373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</a:rPr>
              <a:t>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097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해결한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기존 방식의 한계, 우리가 바꾼다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280160"/>
            <a:ext cx="3657600" cy="1188720"/>
          </a:xfrm>
          <a:prstGeom prst="smileyFace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25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설계 시간 과다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916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전문가가 수작업으로 수일~수주 소요</a:t>
            </a:r>
          </a:p>
        </p:txBody>
      </p:sp>
      <p:sp>
        <p:nvSpPr>
          <p:cNvPr id="10" name="Smiley Face 9"/>
          <p:cNvSpPr/>
          <p:nvPr/>
        </p:nvSpPr>
        <p:spPr>
          <a:xfrm>
            <a:off x="274320" y="2697480"/>
            <a:ext cx="3657600" cy="1188720"/>
          </a:xfrm>
          <a:prstGeom prst="smileyFace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743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높은 실패율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089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실험 전 검증 어려워 반복 실패</a:t>
            </a:r>
          </a:p>
        </p:txBody>
      </p:sp>
      <p:sp>
        <p:nvSpPr>
          <p:cNvPr id="14" name="Smiley Face 13"/>
          <p:cNvSpPr/>
          <p:nvPr/>
        </p:nvSpPr>
        <p:spPr>
          <a:xfrm>
            <a:off x="274320" y="4114800"/>
            <a:ext cx="3657600" cy="1188720"/>
          </a:xfrm>
          <a:prstGeom prst="smileyFace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1605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60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고비용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26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시약·인력·재실험 비용 누적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0B981"/>
                </a:solidFill>
              </a:rPr>
              <a:t>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017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0B981"/>
                </a:solidFill>
              </a:rPr>
              <a:t>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434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0B981"/>
                </a:solidFill>
              </a:rPr>
              <a:t>➜</a:t>
            </a:r>
          </a:p>
        </p:txBody>
      </p:sp>
      <p:sp>
        <p:nvSpPr>
          <p:cNvPr id="21" name="Smiley Face 20"/>
          <p:cNvSpPr/>
          <p:nvPr/>
        </p:nvSpPr>
        <p:spPr>
          <a:xfrm>
            <a:off x="4754880" y="1280160"/>
            <a:ext cx="3657600" cy="1188720"/>
          </a:xfrm>
          <a:prstGeom prst="smileyFace">
            <a:avLst>
              <a:gd name="adj" fmla="val 5000"/>
            </a:avLst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1280160"/>
            <a:ext cx="54864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1325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1325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EE7B7"/>
                </a:solidFill>
              </a:rPr>
              <a:t>완전 자동화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16916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9단계 파이프라인, 분 단위 완료</a:t>
            </a:r>
          </a:p>
        </p:txBody>
      </p:sp>
      <p:sp>
        <p:nvSpPr>
          <p:cNvPr id="26" name="Smiley Face 25"/>
          <p:cNvSpPr/>
          <p:nvPr/>
        </p:nvSpPr>
        <p:spPr>
          <a:xfrm>
            <a:off x="4754880" y="2697480"/>
            <a:ext cx="3657600" cy="1188720"/>
          </a:xfrm>
          <a:prstGeom prst="smileyFace">
            <a:avLst>
              <a:gd name="adj" fmla="val 5000"/>
            </a:avLst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0" y="2697480"/>
            <a:ext cx="54864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2743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2743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EE7B7"/>
                </a:solidFill>
              </a:rPr>
              <a:t>사전 AI 검증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1089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AI 효율 점수 + 커버리지 사전 필터</a:t>
            </a:r>
          </a:p>
        </p:txBody>
      </p:sp>
      <p:sp>
        <p:nvSpPr>
          <p:cNvPr id="31" name="Smiley Face 30"/>
          <p:cNvSpPr/>
          <p:nvPr/>
        </p:nvSpPr>
        <p:spPr>
          <a:xfrm>
            <a:off x="4754880" y="4114800"/>
            <a:ext cx="3657600" cy="1188720"/>
          </a:xfrm>
          <a:prstGeom prst="smileyFace">
            <a:avLst>
              <a:gd name="adj" fmla="val 5000"/>
            </a:avLst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54880" y="4114800"/>
            <a:ext cx="54864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41605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4160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EE7B7"/>
                </a:solidFill>
              </a:rPr>
              <a:t>클라우드 즉시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4526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Vercel 서버리스 — 인프라 불필요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960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Before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960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B981"/>
                </a:solidFill>
              </a:rPr>
              <a:t>After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097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핵심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3가지 핵심 경쟁력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234440"/>
            <a:ext cx="3749039" cy="50292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49039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</a:rPr>
              <a:t>AI 효율 점수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• GC%, Tm, 3'-end 안정성 등 8가지 특성 자동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</a:rPr>
              <a:t>• 점수 근거 투명 공개 — 성분별 기여도 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69079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</a:rPr>
              <a:t>• XGBoost 학습 모델 준비 완료 (데이터 축적 시 즉시 전환)</a:t>
            </a:r>
          </a:p>
        </p:txBody>
      </p:sp>
      <p:sp>
        <p:nvSpPr>
          <p:cNvPr id="13" name="Smiley Face 12"/>
          <p:cNvSpPr/>
          <p:nvPr/>
        </p:nvSpPr>
        <p:spPr>
          <a:xfrm>
            <a:off x="4251959" y="1234440"/>
            <a:ext cx="3749039" cy="50292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234440"/>
            <a:ext cx="3749039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37160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FFFFFF"/>
                </a:solidFill>
              </a:rPr>
              <a:t>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59" y="1417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0A5FA"/>
                </a:solidFill>
              </a:rPr>
              <a:t>9단계 자동 파이프라인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3317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• MAFFT 정렬 → 보존 영역 탐색 → Primer3 후보 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2004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</a:rPr>
              <a:t>• 특이성 필터 → 변이 커버리지 → 열역학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069079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</a:rPr>
              <a:t>• AI 점수 → 순위화 → HTML/PDF 보고서 자동 생성</a:t>
            </a:r>
          </a:p>
        </p:txBody>
      </p:sp>
      <p:sp>
        <p:nvSpPr>
          <p:cNvPr id="20" name="Smiley Face 19"/>
          <p:cNvSpPr/>
          <p:nvPr/>
        </p:nvSpPr>
        <p:spPr>
          <a:xfrm>
            <a:off x="8229600" y="1234440"/>
            <a:ext cx="3749039" cy="50292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234440"/>
            <a:ext cx="3749039" cy="73152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37160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417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4727E"/>
                </a:solidFill>
              </a:rPr>
              <a:t>즉시 활용 보고서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3317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• 상위 후보군 비교표, 서열 정보 포함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2004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</a:rPr>
              <a:t>• AI 점수 근거 세부 내역 (클릭 확장)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069079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</a:rPr>
              <a:t>• PDF 다운로드 &amp; 공유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097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상반기 성과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숫자로 말하는 성과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371600"/>
            <a:ext cx="2743200" cy="22860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</a:rPr>
              <a:t>9단계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14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완전 자동화
파이프라인</a:t>
            </a:r>
          </a:p>
        </p:txBody>
      </p:sp>
      <p:sp>
        <p:nvSpPr>
          <p:cNvPr id="9" name="Smiley Face 8"/>
          <p:cNvSpPr/>
          <p:nvPr/>
        </p:nvSpPr>
        <p:spPr>
          <a:xfrm>
            <a:off x="3200400" y="1371600"/>
            <a:ext cx="2743200" cy="22860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5087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BBF24"/>
                </a:solidFill>
              </a:rPr>
              <a:t>&lt; 30초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514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전체 파이프라인
처리 시간</a:t>
            </a:r>
          </a:p>
        </p:txBody>
      </p:sp>
      <p:sp>
        <p:nvSpPr>
          <p:cNvPr id="12" name="Smiley Face 11"/>
          <p:cNvSpPr/>
          <p:nvPr/>
        </p:nvSpPr>
        <p:spPr>
          <a:xfrm>
            <a:off x="6126480" y="1371600"/>
            <a:ext cx="2743200" cy="22860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087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0A5FA"/>
                </a:solidFill>
              </a:rPr>
              <a:t>AI 점수
8개 특성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14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투명한 근거
제공</a:t>
            </a:r>
          </a:p>
        </p:txBody>
      </p:sp>
      <p:sp>
        <p:nvSpPr>
          <p:cNvPr id="15" name="Smiley Face 14"/>
          <p:cNvSpPr/>
          <p:nvPr/>
        </p:nvSpPr>
        <p:spPr>
          <a:xfrm>
            <a:off x="9052560" y="1371600"/>
            <a:ext cx="2743200" cy="22860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5087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4727E"/>
                </a:solidFill>
              </a:rPr>
              <a:t>100%
클라우드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514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서버 없이
운영 가능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86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주요 개발 마일스톤</a:t>
            </a:r>
          </a:p>
        </p:txBody>
      </p:sp>
      <p:sp>
        <p:nvSpPr>
          <p:cNvPr id="19" name="Smiley Face 18"/>
          <p:cNvSpPr/>
          <p:nvPr/>
        </p:nvSpPr>
        <p:spPr>
          <a:xfrm>
            <a:off x="274320" y="4343400"/>
            <a:ext cx="2743200" cy="192024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425196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434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Phase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846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핵심 파이프라인
9단계 구현 완료</a:t>
            </a:r>
          </a:p>
        </p:txBody>
      </p:sp>
      <p:sp>
        <p:nvSpPr>
          <p:cNvPr id="23" name="Smiley Face 22"/>
          <p:cNvSpPr/>
          <p:nvPr/>
        </p:nvSpPr>
        <p:spPr>
          <a:xfrm>
            <a:off x="3200400" y="4343400"/>
            <a:ext cx="2743200" cy="192024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80560" y="4251960"/>
            <a:ext cx="182880" cy="1828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4434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0A5FA"/>
                </a:solidFill>
              </a:rPr>
              <a:t>Phase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846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Vercel 서버리스
배포 성공</a:t>
            </a:r>
          </a:p>
        </p:txBody>
      </p:sp>
      <p:sp>
        <p:nvSpPr>
          <p:cNvPr id="27" name="Smiley Face 26"/>
          <p:cNvSpPr/>
          <p:nvPr/>
        </p:nvSpPr>
        <p:spPr>
          <a:xfrm>
            <a:off x="6126480" y="4343400"/>
            <a:ext cx="2743200" cy="192024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06640" y="4251960"/>
            <a:ext cx="182880" cy="1828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434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</a:rPr>
              <a:t>Phase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846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AI 점수 투명성
보고서 고도화</a:t>
            </a:r>
          </a:p>
        </p:txBody>
      </p:sp>
      <p:sp>
        <p:nvSpPr>
          <p:cNvPr id="31" name="Smiley Face 30"/>
          <p:cNvSpPr/>
          <p:nvPr/>
        </p:nvSpPr>
        <p:spPr>
          <a:xfrm>
            <a:off x="9052560" y="4343400"/>
            <a:ext cx="2743200" cy="192024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32720" y="4251960"/>
            <a:ext cx="182880" cy="18288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4434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4A3B8"/>
                </a:solidFill>
              </a:rPr>
              <a:t>진행 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846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XGBoost 모델
데이터 수집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315968"/>
            <a:ext cx="1161288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097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기술 인프라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운영 비용 최소화 — 클라우드 네이티브 아키텍처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280160"/>
            <a:ext cx="3474720" cy="43891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474720" cy="914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417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EE7B7"/>
                </a:solidFill>
              </a:rPr>
              <a:t>사용자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✦  웹 브라우저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  ✦  FASTA 업로드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  ✦  보고서 다운로드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200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0B981"/>
                </a:solidFill>
              </a:rPr>
              <a:t>⟷</a:t>
            </a:r>
          </a:p>
        </p:txBody>
      </p:sp>
      <p:sp>
        <p:nvSpPr>
          <p:cNvPr id="13" name="Smiley Face 12"/>
          <p:cNvSpPr/>
          <p:nvPr/>
        </p:nvSpPr>
        <p:spPr>
          <a:xfrm>
            <a:off x="4114800" y="1280160"/>
            <a:ext cx="3474720" cy="43891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28016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417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플랫폼 (Vercel)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0574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✦  FastAPI 백엔드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8346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  ✦  9단계 파이프라인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61188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  ✦  PDF/HTML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200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0B981"/>
                </a:solidFill>
              </a:rPr>
              <a:t>⟷</a:t>
            </a:r>
          </a:p>
        </p:txBody>
      </p:sp>
      <p:sp>
        <p:nvSpPr>
          <p:cNvPr id="20" name="Smiley Face 19"/>
          <p:cNvSpPr/>
          <p:nvPr/>
        </p:nvSpPr>
        <p:spPr>
          <a:xfrm>
            <a:off x="7955279" y="1280160"/>
            <a:ext cx="3474720" cy="43891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1280160"/>
            <a:ext cx="3474720" cy="914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417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</a:rPr>
              <a:t>데이터 (Supabase)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20574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✦  작업 상태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28346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  ✦  결과 영구 저장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361188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  ✦  실시간 진행 표시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9436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• 별도 서버 운용 불필요  • 자동 스케일링  • 99.9% 가용성  • 월정액 예측 비용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097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경쟁 우위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타 솔루션과 무엇이 다른가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743200" cy="64008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234440"/>
            <a:ext cx="2377440" cy="64008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수작업
전문가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234440"/>
            <a:ext cx="2377440" cy="64008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79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범용
바이오인포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34440"/>
            <a:ext cx="2651760" cy="64008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280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OpenBioShield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65960"/>
            <a:ext cx="2743200" cy="66751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0116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설계 소요 시간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1965960"/>
            <a:ext cx="2377440" cy="66751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011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4A3B8"/>
                </a:solidFill>
              </a:rPr>
              <a:t>수일~수주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1965960"/>
            <a:ext cx="2377440" cy="66751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79" y="2011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4A3B8"/>
                </a:solidFill>
              </a:rPr>
              <a:t>수시간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965960"/>
            <a:ext cx="2651760" cy="667512"/>
          </a:xfrm>
          <a:prstGeom prst="rect">
            <a:avLst/>
          </a:prstGeom>
          <a:solidFill>
            <a:srgbClr val="05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011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94A3B8"/>
                </a:solidFill>
              </a:rPr>
              <a:t>&lt; 30초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51760"/>
            <a:ext cx="2743200" cy="667512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6974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AI 효율 예측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2651760"/>
            <a:ext cx="2377440" cy="667512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26974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4A3B8"/>
                </a:solidFill>
              </a:rPr>
              <a:t>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2651760"/>
            <a:ext cx="2377440" cy="667512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79" y="26974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4A3B8"/>
                </a:solidFill>
              </a:rPr>
              <a:t>제한적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2651760"/>
            <a:ext cx="2651760" cy="667512"/>
          </a:xfrm>
          <a:prstGeom prst="rect">
            <a:avLst/>
          </a:prstGeom>
          <a:solidFill>
            <a:srgbClr val="05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6974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6EE7B7"/>
                </a:solidFill>
              </a:rPr>
              <a:t>✅ 8특성 분석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337560"/>
            <a:ext cx="2743200" cy="66751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3832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결과 근거 투명성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3337560"/>
            <a:ext cx="2377440" cy="66751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33832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4A3B8"/>
                </a:solidFill>
              </a:rPr>
              <a:t>없음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3337560"/>
            <a:ext cx="2377440" cy="66751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79" y="33832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4A3B8"/>
                </a:solidFill>
              </a:rPr>
              <a:t>없음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337560"/>
            <a:ext cx="2651760" cy="667512"/>
          </a:xfrm>
          <a:prstGeom prst="rect">
            <a:avLst/>
          </a:prstGeom>
          <a:solidFill>
            <a:srgbClr val="05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3832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6EE7B7"/>
                </a:solidFill>
              </a:rPr>
              <a:t>✅ 성분별 분해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023360"/>
            <a:ext cx="2743200" cy="667512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0690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변이 커버리지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4023360"/>
            <a:ext cx="2377440" cy="667512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40690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4A3B8"/>
                </a:solidFill>
              </a:rPr>
              <a:t>수동 확인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4023360"/>
            <a:ext cx="2377440" cy="667512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79" y="40690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4A3B8"/>
                </a:solidFill>
              </a:rPr>
              <a:t>별도 도구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4023360"/>
            <a:ext cx="2651760" cy="667512"/>
          </a:xfrm>
          <a:prstGeom prst="rect">
            <a:avLst/>
          </a:prstGeom>
          <a:solidFill>
            <a:srgbClr val="05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40690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6EE7B7"/>
                </a:solidFill>
              </a:rPr>
              <a:t>✅ 자동 계산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709160"/>
            <a:ext cx="2743200" cy="66751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7548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보고서 자동 생성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08960" y="4709160"/>
            <a:ext cx="2377440" cy="66751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0" y="47548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4A3B8"/>
                </a:solidFill>
              </a:rPr>
              <a:t>없음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4709160"/>
            <a:ext cx="2377440" cy="66751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79" y="47548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4A3B8"/>
                </a:solidFill>
              </a:rPr>
              <a:t>없음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4709160"/>
            <a:ext cx="2651760" cy="667512"/>
          </a:xfrm>
          <a:prstGeom prst="rect">
            <a:avLst/>
          </a:prstGeom>
          <a:solidFill>
            <a:srgbClr val="05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47548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6EE7B7"/>
                </a:solidFill>
              </a:rPr>
              <a:t>✅ HTML+PDF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394960"/>
            <a:ext cx="2743200" cy="667512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54406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클라우드 즉시 접근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08960" y="5394960"/>
            <a:ext cx="2377440" cy="667512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0" y="5440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4A3B8"/>
                </a:solidFill>
              </a:rPr>
              <a:t>없음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77840" y="5394960"/>
            <a:ext cx="2377440" cy="667512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79" y="5440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4A3B8"/>
                </a:solidFill>
              </a:rPr>
              <a:t>설치 필요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0" y="5394960"/>
            <a:ext cx="2651760" cy="667512"/>
          </a:xfrm>
          <a:prstGeom prst="rect">
            <a:avLst/>
          </a:prstGeom>
          <a:solidFill>
            <a:srgbClr val="05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0" y="5440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6EE7B7"/>
                </a:solidFill>
              </a:rPr>
              <a:t>✅ 브라우저만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097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향후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2026년 하반기 로드맵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280160"/>
            <a:ext cx="3749039" cy="50292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749039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</a:rPr>
              <a:t>Q3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완료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 XGBoost 모델 학습 데이터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 Multiplex qPCR 프로브 설계 고도화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519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 사용자 피드백 루프 구축</a:t>
            </a:r>
          </a:p>
        </p:txBody>
      </p:sp>
      <p:sp>
        <p:nvSpPr>
          <p:cNvPr id="13" name="Smiley Face 12"/>
          <p:cNvSpPr/>
          <p:nvPr/>
        </p:nvSpPr>
        <p:spPr>
          <a:xfrm>
            <a:off x="4251959" y="1280160"/>
            <a:ext cx="3749039" cy="50292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280160"/>
            <a:ext cx="3749039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371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</a:rPr>
              <a:t>Q4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개발 예정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4231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 외부 검증 데이터셋 연동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375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 LIMS 시스템 API 연동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2519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 다국어 보고서 지원</a:t>
            </a:r>
          </a:p>
        </p:txBody>
      </p:sp>
      <p:sp>
        <p:nvSpPr>
          <p:cNvPr id="20" name="Smiley Face 19"/>
          <p:cNvSpPr/>
          <p:nvPr/>
        </p:nvSpPr>
        <p:spPr>
          <a:xfrm>
            <a:off x="8229600" y="1280160"/>
            <a:ext cx="3749039" cy="50292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280160"/>
            <a:ext cx="3749039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371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0A5FA"/>
                </a:solidFill>
              </a:rPr>
              <a:t>2027+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중장기 목표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4231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 규제 제출용 보고서 자동화 (IVD)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3375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 멀티 타겟 동시 설계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519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 SaaS 외부 서비스화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OpenBioShield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69748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6EE7B7"/>
                </a:solidFill>
              </a:rPr>
              <a:t>분자진단 어세이 설계의 미래</a:t>
            </a:r>
          </a:p>
        </p:txBody>
      </p:sp>
      <p:sp>
        <p:nvSpPr>
          <p:cNvPr id="6" name="Smiley Face 5"/>
          <p:cNvSpPr/>
          <p:nvPr/>
        </p:nvSpPr>
        <p:spPr>
          <a:xfrm>
            <a:off x="1188720" y="3566160"/>
            <a:ext cx="3017520" cy="6858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6118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</a:rPr>
              <a:t>수일 → 30초</a:t>
            </a:r>
          </a:p>
        </p:txBody>
      </p:sp>
      <p:sp>
        <p:nvSpPr>
          <p:cNvPr id="8" name="Smiley Face 7"/>
          <p:cNvSpPr/>
          <p:nvPr/>
        </p:nvSpPr>
        <p:spPr>
          <a:xfrm>
            <a:off x="4572000" y="3566160"/>
            <a:ext cx="3017520" cy="6858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6118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</a:rPr>
              <a:t>AI 근거 투명 공개</a:t>
            </a:r>
          </a:p>
        </p:txBody>
      </p:sp>
      <p:sp>
        <p:nvSpPr>
          <p:cNvPr id="10" name="Smiley Face 9"/>
          <p:cNvSpPr/>
          <p:nvPr/>
        </p:nvSpPr>
        <p:spPr>
          <a:xfrm>
            <a:off x="7955280" y="3566160"/>
            <a:ext cx="3017520" cy="6858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6118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</a:rPr>
              <a:t>클라우드 즉시 배포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8463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</a:rPr>
              <a:t>문의 · 데모 요청 · 협업 제안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2578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kyle.yoon.jh@gmail.com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