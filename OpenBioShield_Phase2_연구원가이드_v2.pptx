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Phase 2  |  시약 연구원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통계 검증 &amp; 위험도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CLSI EP05/EP09  ·  PFPS 위험도 엔진  ·  데이터 수집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572000"/>
            <a:ext cx="32004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2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3개 화면으로 구성된 검증 &amp; 위험도 워크플로우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3739896" cy="448056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3739896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1521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52144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CLSI 통계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91056"/>
            <a:ext cx="3611879" cy="18288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67335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EP05 반복성·재현성 분산분석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17627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EP09 방법비교 Deming 회귀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7919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AI 보고서 자동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8211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결과 DB 자동 저장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1078992"/>
            <a:ext cx="3739896" cy="448056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078992"/>
            <a:ext cx="3739896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11521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1152144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PFPS 위험도 엔진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1591056"/>
            <a:ext cx="3611879" cy="18288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167335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변이 위치 거리 기반 위험 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217627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3단계 위험 등급 (HIGH/MEDIUM/LOW)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267919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GPT-4o 서술형 설명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318211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왓슨-크릭 결합 시뮬레이션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9016" y="1078992"/>
            <a:ext cx="3739896" cy="448056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9016" y="1078992"/>
            <a:ext cx="3739896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11521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1936" y="1152144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데이터 수집 현황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4" y="1591056"/>
            <a:ext cx="3611879" cy="18288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4" y="167335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수집된 검증 레코드 통계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17627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질환·가이드라인별 분포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4" y="267919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Fine-tuning 준비도 지표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318211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연구원 피드백 집계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687568"/>
            <a:ext cx="11548872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687568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60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규제 대응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EP05·EP09 결과와 AI 보고서는 식약처(MFDS)·CE-IVD(IVDR)·FDA 510(k) 허가 자료로 직접 활용 가능합니다.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CLSI EP05 — 정밀도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Excel 파일 업로드 한 번으로 반복성·재현성 ANOVA, CV% 자동 계산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325880"/>
            <a:ext cx="649224" cy="6492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325880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188719"/>
            <a:ext cx="4526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Excel 파일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54480"/>
            <a:ext cx="452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CLSI EP05 형식 데이터 파일 드래그&amp;드롭
(샘플 × 반복 × 재현 측정값)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40863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2587751"/>
            <a:ext cx="649224" cy="6492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587751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450591"/>
            <a:ext cx="4526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컬럼 매핑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16351"/>
            <a:ext cx="452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AI 자동 감지 컬럼 할당 검토
잘못된 경우 드롭다운으로 직접 수정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02735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" y="3849623"/>
            <a:ext cx="649224" cy="6492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49623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712463"/>
            <a:ext cx="4526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EP05 분석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78223"/>
            <a:ext cx="452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클릭 한 번 → ANOVA, CV%, 그랜드 평균 자동 계산
완료까지 약 5–10초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64607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" y="5111496"/>
            <a:ext cx="649224" cy="6492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5111496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74336"/>
            <a:ext cx="4526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AI 보고서 &amp; DB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40096"/>
            <a:ext cx="452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한국어·영어 전환 가능한 AI 마크다운 보고서
분석 결과가 Supabase DB에 자동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EP05 결과 수치 해석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481328"/>
            <a:ext cx="13716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481328"/>
            <a:ext cx="1554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150876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허용 기준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481328"/>
            <a:ext cx="260604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15087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초과 시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938528"/>
            <a:ext cx="1371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19842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06"/>
                </a:solidFill>
              </a:rPr>
              <a:t>반복성 CV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1938528"/>
            <a:ext cx="15544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8" y="198424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&lt; 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1938528"/>
            <a:ext cx="26060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0848" y="19842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측정 조건 재검토 (온도, 균질도)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244144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2487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06"/>
                </a:solidFill>
              </a:rPr>
              <a:t>재현성 CV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244144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16368" y="248716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&lt; 10%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2441448"/>
            <a:ext cx="2606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248716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다일·다기기 표준화 후 재분석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944368"/>
            <a:ext cx="1371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29900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06"/>
                </a:solidFill>
              </a:rPr>
              <a:t>ANOVA p값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944368"/>
            <a:ext cx="15544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8" y="299008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&lt; 0.05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2944368"/>
            <a:ext cx="26060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0848" y="299008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측정 그룹 간 조건 차이 확인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34472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44768" y="3493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06"/>
                </a:solidFill>
              </a:rPr>
              <a:t>그랜드 평균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52360" y="344728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8" y="349300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기준값 ±5%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06840" y="3447288"/>
            <a:ext cx="2606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0848" y="349300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시약 농도·보정 재점검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60" y="40965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합격 / 불합격 판정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4507992"/>
            <a:ext cx="5760720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80760" y="4507992"/>
            <a:ext cx="54864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72200" y="4553712"/>
            <a:ext cx="114300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합격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455371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반복성 CV &lt; 5%  AND  재현성 CV &lt; 10%  →  다음 단계 진행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60" y="5102352"/>
            <a:ext cx="5760720" cy="53035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80760" y="5102352"/>
            <a:ext cx="54864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5148072"/>
            <a:ext cx="11430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72200" y="514807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조건부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51480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CV 5–15%  →  추가 검증 후 사용 여부 결정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0760" y="5696712"/>
            <a:ext cx="5760720" cy="530352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80760" y="5696712"/>
            <a:ext cx="54864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5742432"/>
            <a:ext cx="11430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72200" y="574243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불합격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06640" y="574243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CV &gt; 15% 또는 p &gt; 0.05  →  프로토콜 재검토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재현성 CV &gt; 10% 이면 PFPS 엔진이 HIGH로 자동 에스컬레이션합니다. 반드시 위험도 분석과 연계해 확인하세요.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CLSI EP09 — 방법비교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신규 진단법 vs 기준법 동등성 확인 — Deming 회귀·Bland-Altman·Pearson 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57784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54864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Deming 회귀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8191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기울기 1.0 ± 0.1,  절편 0 ± 10%
두 방법 측정값 스케일이 동일한지 확인
기울기가 1에서 멀수록 비례 오차 존재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79191"/>
            <a:ext cx="557784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79191"/>
            <a:ext cx="54864" cy="14813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614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Bland-Altman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8211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평균 차이(Bias) ± 5% 이내
두 방법 간 체계적 차이를 산포도로 시각화
95% 일치구간 허용 범위 내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557784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279392"/>
            <a:ext cx="54864" cy="14813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616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Pearson 상관계수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8231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r ≥ 0.95 합격 기준
두 방법 간 선형 관련성 강도
r &lt; 0.90 이면 방법 재검토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실무 활용 시나리오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508760"/>
            <a:ext cx="5760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508760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581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신규 PCR 키트 허가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9659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기준법과 신규 키트 동시 측정 → EP09 업로드
→ r≥0.95, Bias±5% 확인 → 허가 서류 AI 보고서 출력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679191"/>
            <a:ext cx="5760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2679191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7523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장비 교체 동등성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3639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구형 장비 vs 신형 장비 동일 샘플 측정
→ Deming 기울기 1.0±0.1 → 교체 승인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849624"/>
            <a:ext cx="5760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849624"/>
            <a:ext cx="54864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9227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POC vs Lab 플랫폼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30682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현장 검사(POC) vs 검사실 표준 장비
→ Bland-Altman Bias 허용 범위 확인 → POC 도입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5020056"/>
            <a:ext cx="5760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5020056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0932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시약 로트 변경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477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기존 로트 vs 신규 로트 비교
→ 기울기·절편 범위 내 → 품질관리 문서 자동 생성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AI 보고서는 한국어·영어 전환 가능합니다. 허가 신청 시 영문 버전을 출력하면 해외 규제 제출 자료로 바로 활용할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PFPS 위험도 엔진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프라이머-변이 충돌 위험을 위치 거리 기반 점수로 수치화합니다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57784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54864" cy="1261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1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PFPS (Primer Fitness Position Score)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26464"/>
            <a:ext cx="530352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변이 위치가 프라이머 결합 구간과 얼마나 가까운지를 거리 가중치로 계산한 위험 점수입니다.
3'-end(3 프라임 말단)에 가까울수록 PCR 실패 위험이 기하급수적으로 높아집니다.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487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위치별 위험 등급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89504"/>
            <a:ext cx="55778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889504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535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0–3 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535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3'-end 내부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53512"/>
            <a:ext cx="11430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95351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증폭 실패 확률 매우 높음 — 즉각 재설계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95344"/>
            <a:ext cx="55778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895344"/>
            <a:ext cx="54864" cy="8961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593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4–15 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59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결합 중간 부위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959352"/>
            <a:ext cx="11430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95935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증폭 효율 저하 가능 — Gradient PCR 고려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01184"/>
            <a:ext cx="55778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901184"/>
            <a:ext cx="54864" cy="8961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9651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16+ 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965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결합 외곽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4965192"/>
            <a:ext cx="114300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496519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49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영향 미미 — 모니터링 수준 유지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결과 화면 구성 요소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508760"/>
            <a:ext cx="5760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1508760"/>
            <a:ext cx="54864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5727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위험도 등급 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572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HIGH/MEDIUM/LOW 색상 배지 + 위험 점수 수치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167128"/>
            <a:ext cx="5760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2167128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231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결합 시뮬레이션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2311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프라이머↔타겟 서열 정렬 — 미스매치 위치 강조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2825496"/>
            <a:ext cx="5760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2825496"/>
            <a:ext cx="54864" cy="594360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28895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916FA"/>
                </a:solidFill>
              </a:rPr>
              <a:t>GPT-4o 설명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8895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위험 원인·개선 방향 서술형 해설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3483864"/>
            <a:ext cx="5760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3483864"/>
            <a:ext cx="54864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547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변이 위치 목록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547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각 미스매치의 bp 거리·영향도 상세 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2519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PFPS 결과 → 실험 판단 기준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4663440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80760" y="4663440"/>
            <a:ext cx="54864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2200" y="4718304"/>
            <a:ext cx="11430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471830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47183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즉각 재설계 → Phase 3으로 신규 프라이머 설계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5257800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80760" y="5257800"/>
            <a:ext cx="54864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5312664"/>
            <a:ext cx="11430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531266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531266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실험 진행 + Gradient PCR 병행 → 최적화 검증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5852159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80760" y="5852159"/>
            <a:ext cx="54864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5907024"/>
            <a:ext cx="114300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200" y="590702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590702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사용 적합 — 분기별 변이 업데이트 확인 권장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재현성 CV &gt; 10% 이면 PFPS 엔진이 HIGH로 자동 에스컬레이션합니다. EP05 결과와 PFPS를 반드시 함께 확인하세요.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데이터 수집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검증 데이터 축적 → AI 모델 자동 개선 — 연구원의 피드백이 핵심입니다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데이터 수집 화면 구성 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57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수집 레코드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57276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EP05·EP09 분석 완료 시 자동 저장된 총 레코드 수
목표: 5,000건 이상 (Fine-tuning 기준)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557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77439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414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질환별 분포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44144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SARS-CoV-2·HPV·STI 각 질환별 데이터 비율 도넛 차트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46120"/>
            <a:ext cx="557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46120"/>
            <a:ext cx="54864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10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위험도 분포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31012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HIGH/MEDIUM/LOW 비율 — 치우침이 크면 데이터 균형화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557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54864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7880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피드백 정확도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178807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연구원 피드백 (accurate/partially/incorrect) 누적 — AI 보고서 품질 지표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83479"/>
            <a:ext cx="5577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83479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47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Fine-tuning 준비도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047488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5,000건 도달률 진행 바 — 목표 달성 시 XGBoost 재학습 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데이터 → AI 개선 사이클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508760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508760"/>
            <a:ext cx="50292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1508760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572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EP05·EP09 분석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15727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시약 연구원이 검증 데이터 업로드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258568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2258568"/>
            <a:ext cx="5029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25856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322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결과 자동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232257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분석 결과가 Supabase DB에 적재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3008376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80760" y="3008376"/>
            <a:ext cx="50292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008376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0723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피드백 입력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07238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AI 보고서 정확도 3단계 평가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758183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3758183"/>
            <a:ext cx="502920" cy="658368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758183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8221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16FA"/>
                </a:solidFill>
              </a:rPr>
              <a:t>데이터 5,000건 도달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822191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Fine-tuning 준비 완료 알림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507992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80760" y="4507992"/>
            <a:ext cx="50292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450799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XGBoost 모델 재학습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457200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Phase 3 AI 점수 정확도 향상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5257800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80760" y="5257800"/>
            <a:ext cx="50292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80760" y="5257800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53218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더 정확한 자동 설계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5321807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연구원 수작업 검토 시간 감소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38251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</a:rPr>
              <a:t>피드백 버튼(accurate·partially·incorrect)을 반드시 클릭해주세요. 이 피드백이 AI 모델 개선의 핵심 데이터입니다.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2 완료 체크리스트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Phase 3 진행 전 반드시 완료해야 할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54864" cy="14447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243584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2435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EP05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73736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반복성 CV &lt; 5%,  재현성 CV &lt;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10312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→ 미달 시: 측정 조건 재검토 후 재분석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51760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54864" cy="1444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" y="2816352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163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EP09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310128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 ≥ 0.95,  Deming 기울기 1.0±0.1,  Bias &lt; 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675887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→ 미달 시: 측정 범위·기준법 재검토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24528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224528"/>
            <a:ext cx="54864" cy="1444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" y="4389120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PFPS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882896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HIGH 위험 프라이머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248656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→ HIGH 존재 시: Phase 3으로 재설계 진행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1078992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1078992"/>
            <a:ext cx="54864" cy="14447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73951" y="1243584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59" y="12435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AI 보고서 피드백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1" y="173736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보고서 정확도 피드백 (3단계) 입력 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1" y="210312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→ 피드백 없으면 DB 카운트에서 제외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2651760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54864" cy="14447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73951" y="2816352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59" y="28163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DB 저장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3310128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데이터 수집 화면에서 오늘 레코드 수 증가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1" y="3675887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→ 저장 실패 시: 네트워크 확인 또는 개발팀 문의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59" y="4224528"/>
            <a:ext cx="57607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4224528"/>
            <a:ext cx="54864" cy="1444752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73951" y="4389120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59" y="43891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16FA"/>
                </a:solidFill>
              </a:rPr>
              <a:t>문서 저장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1" y="4882896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규제 제출용 PDF·AI 보고서 ELN 첨부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1" y="5248656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→ 허가 신청 전 보고서 버전 관리 필수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